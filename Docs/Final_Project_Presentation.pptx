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a491afdde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a491afdde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5a7f810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5a7f810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a491afdde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a491afdde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a491afdde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a491afdde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regarding what ml does and how does it apply to this project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5a7f810e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5a7f810e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a491afdde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a491afdde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b7762971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b7762971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b7762971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b7762971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b7762971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b7762971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b776297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b776297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b7762971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b7762971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a491afdde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a491afdde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5a7f810ef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5a7f810ef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b87bb06dd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b87bb06dd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en">
                <a:solidFill>
                  <a:schemeClr val="dk1"/>
                </a:solidFill>
              </a:rPr>
              <a:t>Why Chosen:</a:t>
            </a:r>
            <a:r>
              <a:rPr lang="en">
                <a:solidFill>
                  <a:schemeClr val="dk1"/>
                </a:solidFill>
              </a:rPr>
              <a:t> Simple, fast baseline to test for </a:t>
            </a:r>
            <a:r>
              <a:rPr b="1" lang="en">
                <a:solidFill>
                  <a:schemeClr val="dk1"/>
                </a:solidFill>
              </a:rPr>
              <a:t>linear patterns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SzPts val="1100"/>
              <a:buChar char="-"/>
            </a:pPr>
            <a:r>
              <a:rPr b="1" lang="en">
                <a:solidFill>
                  <a:schemeClr val="dk1"/>
                </a:solidFill>
              </a:rPr>
              <a:t>Performance:</a:t>
            </a:r>
            <a:r>
              <a:rPr lang="en">
                <a:solidFill>
                  <a:schemeClr val="dk1"/>
                </a:solidFill>
              </a:rPr>
              <a:t> Worst performer; failed significantly on Multiclass and DDoS.</a:t>
            </a:r>
            <a:endParaRPr>
              <a:solidFill>
                <a:schemeClr val="dk1"/>
              </a:solidFill>
            </a:endParaRPr>
          </a:p>
          <a:p>
            <a:pPr indent="-298450" lvl="0" marL="457200" rtl="0" algn="l">
              <a:lnSpc>
                <a:spcPct val="115000"/>
              </a:lnSpc>
              <a:spcBef>
                <a:spcPts val="0"/>
              </a:spcBef>
              <a:spcAft>
                <a:spcPts val="0"/>
              </a:spcAft>
              <a:buSzPts val="1100"/>
              <a:buChar char="-"/>
            </a:pPr>
            <a:r>
              <a:rPr b="1" lang="en">
                <a:solidFill>
                  <a:schemeClr val="dk1"/>
                </a:solidFill>
              </a:rPr>
              <a:t>Critical Flaw:</a:t>
            </a:r>
            <a:r>
              <a:rPr lang="en">
                <a:solidFill>
                  <a:schemeClr val="dk1"/>
                </a:solidFill>
              </a:rPr>
              <a:t> Extremely high </a:t>
            </a:r>
            <a:r>
              <a:rPr b="1" lang="en">
                <a:solidFill>
                  <a:schemeClr val="dk1"/>
                </a:solidFill>
              </a:rPr>
              <a:t>False Alarm Rate</a:t>
            </a:r>
            <a:r>
              <a:rPr lang="en">
                <a:solidFill>
                  <a:schemeClr val="dk1"/>
                </a:solidFill>
              </a:rPr>
              <a:t> (up to 47%).</a:t>
            </a:r>
            <a:endParaRPr>
              <a:solidFill>
                <a:schemeClr val="dk1"/>
              </a:solidFill>
            </a:endParaRPr>
          </a:p>
          <a:p>
            <a:pPr indent="-298450" lvl="0" marL="457200" rtl="0" algn="l">
              <a:lnSpc>
                <a:spcPct val="115000"/>
              </a:lnSpc>
              <a:spcBef>
                <a:spcPts val="0"/>
              </a:spcBef>
              <a:spcAft>
                <a:spcPts val="0"/>
              </a:spcAft>
              <a:buSzPts val="1100"/>
              <a:buChar char="-"/>
            </a:pPr>
            <a:r>
              <a:rPr b="1" lang="en">
                <a:solidFill>
                  <a:schemeClr val="dk1"/>
                </a:solidFill>
              </a:rPr>
              <a:t>Takeaway:</a:t>
            </a:r>
            <a:r>
              <a:rPr lang="en">
                <a:solidFill>
                  <a:schemeClr val="dk1"/>
                </a:solidFill>
              </a:rPr>
              <a:t> Causes massive "Alert Fatigue" — unsuitable for real-world security.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1229c4d7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1229c4d7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1229c4d7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1229c4d7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b="1" lang="en">
                <a:solidFill>
                  <a:schemeClr val="dk1"/>
                </a:solidFill>
              </a:rPr>
              <a:t>Why Chosen:</a:t>
            </a:r>
            <a:r>
              <a:rPr lang="en">
                <a:solidFill>
                  <a:schemeClr val="dk1"/>
                </a:solidFill>
              </a:rPr>
              <a:t> To test </a:t>
            </a:r>
            <a:r>
              <a:rPr b="1" lang="en">
                <a:solidFill>
                  <a:schemeClr val="dk1"/>
                </a:solidFill>
              </a:rPr>
              <a:t>distance-based</a:t>
            </a:r>
            <a:r>
              <a:rPr lang="en">
                <a:solidFill>
                  <a:schemeClr val="dk1"/>
                </a:solidFill>
              </a:rPr>
              <a:t> anomaly detection.</a:t>
            </a:r>
            <a:endParaRPr>
              <a:solidFill>
                <a:schemeClr val="dk1"/>
              </a:solidFill>
            </a:endParaRPr>
          </a:p>
          <a:p>
            <a:pPr indent="-298450" lvl="0" marL="457200" rtl="0" algn="l">
              <a:spcBef>
                <a:spcPts val="0"/>
              </a:spcBef>
              <a:spcAft>
                <a:spcPts val="0"/>
              </a:spcAft>
              <a:buSzPts val="1100"/>
              <a:buChar char="-"/>
            </a:pPr>
            <a:r>
              <a:rPr b="1" lang="en">
                <a:solidFill>
                  <a:schemeClr val="dk1"/>
                </a:solidFill>
              </a:rPr>
              <a:t>Performance:</a:t>
            </a:r>
            <a:r>
              <a:rPr lang="en">
                <a:solidFill>
                  <a:schemeClr val="dk1"/>
                </a:solidFill>
              </a:rPr>
              <a:t> Significant improvement over Logistic Regression.</a:t>
            </a:r>
            <a:endParaRPr>
              <a:solidFill>
                <a:schemeClr val="dk1"/>
              </a:solidFill>
            </a:endParaRPr>
          </a:p>
          <a:p>
            <a:pPr indent="-298450" lvl="0" marL="457200" rtl="0" algn="l">
              <a:spcBef>
                <a:spcPts val="0"/>
              </a:spcBef>
              <a:spcAft>
                <a:spcPts val="0"/>
              </a:spcAft>
              <a:buSzPts val="1100"/>
              <a:buChar char="-"/>
            </a:pPr>
            <a:r>
              <a:rPr b="1" lang="en">
                <a:solidFill>
                  <a:schemeClr val="dk1"/>
                </a:solidFill>
              </a:rPr>
              <a:t>Weakness:</a:t>
            </a:r>
            <a:r>
              <a:rPr lang="en">
                <a:solidFill>
                  <a:schemeClr val="dk1"/>
                </a:solidFill>
              </a:rPr>
              <a:t> Struggled with specific attacks like </a:t>
            </a:r>
            <a:r>
              <a:rPr b="1" lang="en">
                <a:solidFill>
                  <a:schemeClr val="dk1"/>
                </a:solidFill>
              </a:rPr>
              <a:t>Backdoor</a:t>
            </a:r>
            <a:r>
              <a:rPr lang="en">
                <a:solidFill>
                  <a:schemeClr val="dk1"/>
                </a:solidFill>
              </a:rPr>
              <a:t>.</a:t>
            </a:r>
            <a:endParaRPr>
              <a:solidFill>
                <a:schemeClr val="dk1"/>
              </a:solidFill>
            </a:endParaRPr>
          </a:p>
          <a:p>
            <a:pPr indent="-298450" lvl="0" marL="457200" rtl="0" algn="l">
              <a:spcBef>
                <a:spcPts val="0"/>
              </a:spcBef>
              <a:spcAft>
                <a:spcPts val="0"/>
              </a:spcAft>
              <a:buSzPts val="1100"/>
              <a:buChar char="-"/>
            </a:pPr>
            <a:r>
              <a:rPr b="1" lang="en">
                <a:solidFill>
                  <a:schemeClr val="dk1"/>
                </a:solidFill>
              </a:rPr>
              <a:t>Verdict:</a:t>
            </a:r>
            <a:r>
              <a:rPr lang="en">
                <a:solidFill>
                  <a:schemeClr val="dk1"/>
                </a:solidFill>
              </a:rPr>
              <a:t> Better than baseline, but outperformed by Random Forest in multiclass scenarios.</a:t>
            </a:r>
            <a:endParaRPr b="1">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1229c4d7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1229c4d7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1229c4d7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1229c4d7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a:solidFill>
                  <a:schemeClr val="dk1"/>
                </a:solidFill>
              </a:rPr>
              <a:t>Why Chosen:</a:t>
            </a:r>
            <a:r>
              <a:rPr lang="en">
                <a:solidFill>
                  <a:schemeClr val="dk1"/>
                </a:solidFill>
              </a:rPr>
              <a:t> Ensemble architecture prevents </a:t>
            </a:r>
            <a:r>
              <a:rPr b="1" lang="en">
                <a:solidFill>
                  <a:schemeClr val="dk1"/>
                </a:solidFill>
              </a:rPr>
              <a:t>overfitting</a:t>
            </a:r>
            <a:r>
              <a:rPr lang="en">
                <a:solidFill>
                  <a:schemeClr val="dk1"/>
                </a:solidFill>
              </a:rPr>
              <a:t> (crucial for simulated datasets).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Performance:</a:t>
            </a:r>
            <a:r>
              <a:rPr lang="en">
                <a:solidFill>
                  <a:schemeClr val="dk1"/>
                </a:solidFill>
              </a:rPr>
              <a:t> Best results (~98% accuracy); generalizes well across all attack types.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Key Win:</a:t>
            </a:r>
            <a:r>
              <a:rPr lang="en">
                <a:solidFill>
                  <a:schemeClr val="dk1"/>
                </a:solidFill>
              </a:rPr>
              <a:t> Respectable False Alarm Rate (lowest ~2%) — solves the "Alert Fatigue" problem.</a:t>
            </a:r>
            <a:endParaRPr>
              <a:solidFill>
                <a:schemeClr val="dk1"/>
              </a:solidFill>
            </a:endParaRPr>
          </a:p>
          <a:p>
            <a:pPr indent="0" lvl="0" marL="0" rtl="0" algn="l">
              <a:spcBef>
                <a:spcPts val="1200"/>
              </a:spcBef>
              <a:spcAft>
                <a:spcPts val="0"/>
              </a:spcAft>
              <a:buNone/>
            </a:pPr>
            <a:r>
              <a:rPr b="1" lang="en">
                <a:solidFill>
                  <a:schemeClr val="dk1"/>
                </a:solidFill>
              </a:rPr>
              <a:t>Observation:</a:t>
            </a:r>
            <a:r>
              <a:rPr lang="en">
                <a:solidFill>
                  <a:schemeClr val="dk1"/>
                </a:solidFill>
              </a:rPr>
              <a:t> Models struggled with </a:t>
            </a:r>
            <a:r>
              <a:rPr b="1" lang="en">
                <a:solidFill>
                  <a:schemeClr val="dk1"/>
                </a:solidFill>
              </a:rPr>
              <a:t>payload-reliant</a:t>
            </a:r>
            <a:r>
              <a:rPr lang="en">
                <a:solidFill>
                  <a:schemeClr val="dk1"/>
                </a:solidFill>
              </a:rPr>
              <a:t> attacks (expected, as NetFlow lacks payload).</a:t>
            </a:r>
            <a:endParaRPr>
              <a:solidFill>
                <a:schemeClr val="dk1"/>
              </a:solidFill>
            </a:endParaRPr>
          </a:p>
          <a:p>
            <a:pPr indent="0" lvl="0" marL="0" rtl="0" algn="l">
              <a:spcBef>
                <a:spcPts val="0"/>
              </a:spcBef>
              <a:spcAft>
                <a:spcPts val="0"/>
              </a:spcAft>
              <a:buNone/>
            </a:pPr>
            <a:r>
              <a:rPr b="1" lang="en">
                <a:solidFill>
                  <a:schemeClr val="dk1"/>
                </a:solidFill>
              </a:rPr>
              <a:t>Surprise:</a:t>
            </a:r>
            <a:r>
              <a:rPr lang="en">
                <a:solidFill>
                  <a:schemeClr val="dk1"/>
                </a:solidFill>
              </a:rPr>
              <a:t> They still detected </a:t>
            </a:r>
            <a:r>
              <a:rPr i="1" lang="en">
                <a:solidFill>
                  <a:schemeClr val="dk1"/>
                </a:solidFill>
              </a:rPr>
              <a:t>some</a:t>
            </a:r>
            <a:r>
              <a:rPr lang="en">
                <a:solidFill>
                  <a:schemeClr val="dk1"/>
                </a:solidFill>
              </a:rPr>
              <a:t> payload attacks (likely via behavioral side-effects).</a:t>
            </a:r>
            <a:endParaRPr>
              <a:solidFill>
                <a:schemeClr val="dk1"/>
              </a:solidFill>
            </a:endParaRPr>
          </a:p>
          <a:p>
            <a:pPr indent="0" lvl="0" marL="0" rtl="0" algn="l">
              <a:spcBef>
                <a:spcPts val="0"/>
              </a:spcBef>
              <a:spcAft>
                <a:spcPts val="0"/>
              </a:spcAft>
              <a:buNone/>
            </a:pPr>
            <a:r>
              <a:rPr b="1" lang="en">
                <a:solidFill>
                  <a:schemeClr val="dk1"/>
                </a:solidFill>
              </a:rPr>
              <a:t>Next Step:</a:t>
            </a:r>
            <a:r>
              <a:rPr lang="en">
                <a:solidFill>
                  <a:schemeClr val="dk1"/>
                </a:solidFill>
              </a:rPr>
              <a:t> Need to validate on </a:t>
            </a:r>
            <a:r>
              <a:rPr b="1" lang="en">
                <a:solidFill>
                  <a:schemeClr val="dk1"/>
                </a:solidFill>
              </a:rPr>
              <a:t>real-world traffic</a:t>
            </a:r>
            <a:r>
              <a:rPr lang="en">
                <a:solidFill>
                  <a:schemeClr val="dk1"/>
                </a:solidFill>
              </a:rPr>
              <a:t> to ensure these results aren't just simulation artifacts. -&gt; </a:t>
            </a:r>
            <a:r>
              <a:rPr b="1" lang="en">
                <a:solidFill>
                  <a:schemeClr val="dk1"/>
                </a:solidFill>
              </a:rPr>
              <a:t>(Transition to Future Work)</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1229c4d7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1229c4d7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5a7f810ef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5a7f810ef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b87bb06dd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b87bb06dd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We want to make our model that could handle encrypted or payload-less traffic in the future. Instead of trying to see inside the payload, we’d rely on what’s still visible. One idea is to use TLS handshake features—things like the chosen cipher suite, certificate length, or even JA3 fingerprints—to build a kind of behavioral profile for each connection. On top of that, we can do statistical analysis of the payload characteristics we </a:t>
            </a:r>
            <a:r>
              <a:rPr i="1" lang="en" sz="1400">
                <a:solidFill>
                  <a:schemeClr val="dk1"/>
                </a:solidFill>
              </a:rPr>
              <a:t>can</a:t>
            </a:r>
            <a:r>
              <a:rPr lang="en" sz="1400">
                <a:solidFill>
                  <a:schemeClr val="dk1"/>
                </a:solidFill>
              </a:rPr>
              <a:t> see, such as packet size distributions, entropy, and timing patterns between packets. Together, these effectively become side-channel signals that help us spot suspicious encrypted flows, even when we can’t decrypt the data itself.</a:t>
            </a:r>
            <a:endParaRPr b="1" sz="14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b87bb06d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b87bb06d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sz="1200">
                <a:solidFill>
                  <a:schemeClr val="dk1"/>
                </a:solidFill>
              </a:rPr>
              <a:t>To make hybrid detection system, the idea is to combine our NetFlow-based model with deep packet inspection.</a:t>
            </a:r>
            <a:r>
              <a:rPr lang="en" sz="1400">
                <a:solidFill>
                  <a:schemeClr val="dk1"/>
                </a:solidFill>
              </a:rPr>
              <a:t> In a hybrid setup, the model acts as a fast “First Pass” filter, whenever it flags something as suspicious, that automatically triggers a heavier analysis layer, like Deep Packet inspection or host-based logs that second layer can then look at the actual data content, system processes or malware signatures that the flow features can’t capture. So overall, you get the best of both worlds, speed and scalability from Netflow, plus forensic depth when you really need to zoom in.</a:t>
            </a:r>
            <a:endParaRPr sz="1200">
              <a:solidFill>
                <a:schemeClr val="dk1"/>
              </a:solidFill>
            </a:endParaRPr>
          </a:p>
          <a:p>
            <a:pPr indent="0" lvl="0" marL="0" rtl="0" algn="l">
              <a:spcBef>
                <a:spcPts val="210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b87bb06dd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b87bb06dd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400">
                <a:solidFill>
                  <a:schemeClr val="dk1"/>
                </a:solidFill>
              </a:rPr>
              <a:t>The idea is to deploy our model in a virtual environment and then generate real traffic, including attacks such as DoS, DDoS, or brute-force attempts. That traffic would be converted into NetFlow-style features and sent to our trained model through a middleware layer. This will help us to check not only if the model still detects attacks correctly in a noisy real environment, but also measure important system metrics like latency, throughput, and packet drop rate.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b87bb06dd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b87bb06dd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400">
                <a:solidFill>
                  <a:schemeClr val="dk1"/>
                </a:solidFill>
              </a:rPr>
              <a:t>Compare the current basic Machine Learning (like Random Forest, Logistic Regression, K-NN) to Deep Learning models such as Convolutional Neural Network for spatial feature extraction or Long Short-Term Memory (LSTM) networks to capture temporal dependencies in network traffic. Using DL models the ability of the model will be enhanced to identify complex, low-volume, and novel attacks that basic models might miss.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rgbClr val="E6E8F0"/>
              </a:solidFill>
              <a:highlight>
                <a:srgbClr val="101218"/>
              </a:highlight>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b7762971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b7762971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doi.org/10.48550/arxiv.2503.04404" TargetMode="External"/><Relationship Id="rId4" Type="http://schemas.openxmlformats.org/officeDocument/2006/relationships/hyperlink" Target="https://doi.org/10.1007/s11036-021-01843-0" TargetMode="External"/><Relationship Id="rId5" Type="http://schemas.openxmlformats.org/officeDocument/2006/relationships/hyperlink" Target="https://drive.google.com/file/d/1B4WhYcyInRXWl-pwRsj-9xrWHaSBYmq8/view?usp=sharing" TargetMode="External"/><Relationship Id="rId6" Type="http://schemas.openxmlformats.org/officeDocument/2006/relationships/hyperlink" Target="https://staff.itee.uq.edu.au/marius/NIDS_datase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Network Intrusion Detection System</a:t>
            </a:r>
            <a:endParaRPr/>
          </a:p>
        </p:txBody>
      </p:sp>
      <p:sp>
        <p:nvSpPr>
          <p:cNvPr id="55" name="Google Shape;55;p13"/>
          <p:cNvSpPr txBox="1"/>
          <p:nvPr>
            <p:ph idx="1" type="subTitle"/>
          </p:nvPr>
        </p:nvSpPr>
        <p:spPr>
          <a:xfrm>
            <a:off x="311700" y="3071200"/>
            <a:ext cx="8520600" cy="1113600"/>
          </a:xfrm>
          <a:prstGeom prst="rect">
            <a:avLst/>
          </a:prstGeom>
        </p:spPr>
        <p:txBody>
          <a:bodyPr anchorCtr="0" anchor="t" bIns="91425" lIns="91425" spcFirstLastPara="1" rIns="91425" wrap="square" tIns="91425">
            <a:normAutofit fontScale="77500" lnSpcReduction="10000"/>
          </a:bodyPr>
          <a:lstStyle/>
          <a:p>
            <a:pPr indent="0" lvl="0" marL="0" rtl="0" algn="ctr">
              <a:spcBef>
                <a:spcPts val="0"/>
              </a:spcBef>
              <a:spcAft>
                <a:spcPts val="0"/>
              </a:spcAft>
              <a:buNone/>
            </a:pPr>
            <a:r>
              <a:rPr lang="en">
                <a:solidFill>
                  <a:schemeClr val="dk1"/>
                </a:solidFill>
              </a:rPr>
              <a:t>Group 5</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Joao Lucas Veras, Eshan Chawla, </a:t>
            </a:r>
            <a:r>
              <a:rPr lang="en">
                <a:solidFill>
                  <a:schemeClr val="dk1"/>
                </a:solidFill>
              </a:rPr>
              <a:t>Uday Arora, Aryan Dandwekar </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Contents</a:t>
            </a:r>
            <a:endParaRPr/>
          </a:p>
        </p:txBody>
      </p:sp>
      <p:sp>
        <p:nvSpPr>
          <p:cNvPr id="61" name="Google Shape;61;p14"/>
          <p:cNvSpPr txBox="1"/>
          <p:nvPr>
            <p:ph idx="1" type="body"/>
          </p:nvPr>
        </p:nvSpPr>
        <p:spPr>
          <a:xfrm>
            <a:off x="311700" y="1338725"/>
            <a:ext cx="8520600" cy="3416400"/>
          </a:xfrm>
          <a:prstGeom prst="rect">
            <a:avLst/>
          </a:prstGeom>
        </p:spPr>
        <p:txBody>
          <a:bodyPr anchorCtr="0" anchor="t" bIns="91425" lIns="91425" spcFirstLastPara="1" rIns="91425" wrap="square" tIns="91425">
            <a:normAutofit/>
          </a:bodyPr>
          <a:lstStyle/>
          <a:p>
            <a:pPr indent="-368300" lvl="0" marL="457200" rtl="0" algn="l">
              <a:lnSpc>
                <a:spcPct val="200000"/>
              </a:lnSpc>
              <a:spcBef>
                <a:spcPts val="0"/>
              </a:spcBef>
              <a:spcAft>
                <a:spcPts val="0"/>
              </a:spcAft>
              <a:buClr>
                <a:schemeClr val="dk1"/>
              </a:buClr>
              <a:buSzPts val="2200"/>
              <a:buChar char="●"/>
            </a:pPr>
            <a:r>
              <a:rPr lang="en" sz="2200">
                <a:solidFill>
                  <a:schemeClr val="dk1"/>
                </a:solidFill>
              </a:rPr>
              <a:t>Main Idea</a:t>
            </a:r>
            <a:endParaRPr sz="2200">
              <a:solidFill>
                <a:schemeClr val="dk1"/>
              </a:solidFill>
            </a:endParaRPr>
          </a:p>
          <a:p>
            <a:pPr indent="-368300" lvl="0" marL="457200" rtl="0" algn="l">
              <a:lnSpc>
                <a:spcPct val="200000"/>
              </a:lnSpc>
              <a:spcBef>
                <a:spcPts val="0"/>
              </a:spcBef>
              <a:spcAft>
                <a:spcPts val="0"/>
              </a:spcAft>
              <a:buClr>
                <a:schemeClr val="dk1"/>
              </a:buClr>
              <a:buSzPts val="2200"/>
              <a:buChar char="●"/>
            </a:pPr>
            <a:r>
              <a:rPr lang="en" sz="2200">
                <a:solidFill>
                  <a:schemeClr val="dk1"/>
                </a:solidFill>
              </a:rPr>
              <a:t>Work Done</a:t>
            </a:r>
            <a:endParaRPr sz="2200">
              <a:solidFill>
                <a:schemeClr val="dk1"/>
              </a:solidFill>
            </a:endParaRPr>
          </a:p>
          <a:p>
            <a:pPr indent="-368300" lvl="0" marL="457200" rtl="0" algn="l">
              <a:lnSpc>
                <a:spcPct val="200000"/>
              </a:lnSpc>
              <a:spcBef>
                <a:spcPts val="0"/>
              </a:spcBef>
              <a:spcAft>
                <a:spcPts val="0"/>
              </a:spcAft>
              <a:buClr>
                <a:schemeClr val="dk1"/>
              </a:buClr>
              <a:buSzPts val="2200"/>
              <a:buChar char="●"/>
            </a:pPr>
            <a:r>
              <a:rPr lang="en" sz="2200">
                <a:solidFill>
                  <a:schemeClr val="dk1"/>
                </a:solidFill>
              </a:rPr>
              <a:t>Performance Metrics and Evaluation</a:t>
            </a:r>
            <a:endParaRPr sz="2200">
              <a:solidFill>
                <a:schemeClr val="dk1"/>
              </a:solidFill>
            </a:endParaRPr>
          </a:p>
          <a:p>
            <a:pPr indent="-368300" lvl="0" marL="457200" rtl="0" algn="l">
              <a:lnSpc>
                <a:spcPct val="200000"/>
              </a:lnSpc>
              <a:spcBef>
                <a:spcPts val="0"/>
              </a:spcBef>
              <a:spcAft>
                <a:spcPts val="0"/>
              </a:spcAft>
              <a:buClr>
                <a:schemeClr val="dk1"/>
              </a:buClr>
              <a:buSzPts val="2200"/>
              <a:buChar char="●"/>
            </a:pPr>
            <a:r>
              <a:rPr lang="en" sz="2200">
                <a:solidFill>
                  <a:schemeClr val="dk1"/>
                </a:solidFill>
              </a:rPr>
              <a:t>Future Work</a:t>
            </a:r>
            <a:endParaRPr sz="2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Main Idea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58200" y="193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and Motivation</a:t>
            </a:r>
            <a:endParaRPr/>
          </a:p>
        </p:txBody>
      </p:sp>
      <p:sp>
        <p:nvSpPr>
          <p:cNvPr id="72" name="Google Shape;72;p16"/>
          <p:cNvSpPr txBox="1"/>
          <p:nvPr>
            <p:ph idx="1" type="body"/>
          </p:nvPr>
        </p:nvSpPr>
        <p:spPr>
          <a:xfrm>
            <a:off x="311700" y="901375"/>
            <a:ext cx="4260300" cy="4176300"/>
          </a:xfrm>
          <a:prstGeom prst="rect">
            <a:avLst/>
          </a:prstGeom>
        </p:spPr>
        <p:txBody>
          <a:bodyPr anchorCtr="0" anchor="t" bIns="91425" lIns="91425" spcFirstLastPara="1" rIns="91425" wrap="square" tIns="91425">
            <a:normAutofit lnSpcReduction="20000"/>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Current modern </a:t>
            </a:r>
            <a:r>
              <a:rPr lang="en">
                <a:solidFill>
                  <a:schemeClr val="dk1"/>
                </a:solidFill>
              </a:rPr>
              <a:t>network</a:t>
            </a:r>
            <a:r>
              <a:rPr lang="en">
                <a:solidFill>
                  <a:schemeClr val="dk1"/>
                </a:solidFill>
              </a:rPr>
              <a:t> infrastructures face many different security threats</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Attacks from DDoS to application-layer attacks like SQL Injection</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Traditional rule-bas</a:t>
            </a:r>
            <a:r>
              <a:rPr lang="en">
                <a:solidFill>
                  <a:schemeClr val="dk1"/>
                </a:solidFill>
              </a:rPr>
              <a:t>e</a:t>
            </a:r>
            <a:r>
              <a:rPr lang="en">
                <a:solidFill>
                  <a:schemeClr val="dk1"/>
                </a:solidFill>
              </a:rPr>
              <a:t>d intrusion detection system have many flaws</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Can’t adapt to new patterns</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Overwhelmed by high-volume traffic</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Question we asked ourselves</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How can we improve the current system?</a:t>
            </a:r>
            <a:endParaRPr>
              <a:solidFill>
                <a:schemeClr val="dk1"/>
              </a:solidFill>
            </a:endParaRPr>
          </a:p>
        </p:txBody>
      </p:sp>
      <p:pic>
        <p:nvPicPr>
          <p:cNvPr descr="Cyber Security and Digital Data Protection Concept (Provided by Getty Images)" id="73" name="Google Shape;73;p16"/>
          <p:cNvPicPr preferRelativeResize="0"/>
          <p:nvPr/>
        </p:nvPicPr>
        <p:blipFill>
          <a:blip r:embed="rId3">
            <a:alphaModFix/>
          </a:blip>
          <a:stretch>
            <a:fillRect/>
          </a:stretch>
        </p:blipFill>
        <p:spPr>
          <a:xfrm>
            <a:off x="4674925" y="1268463"/>
            <a:ext cx="4267197" cy="26065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Leverage predictive power of ML to create a Network Intrusion Detection System (NIDS)</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Accurate and capable to flexibly detect different attack signatures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Final outcome: </a:t>
            </a:r>
            <a:r>
              <a:rPr b="1" lang="en">
                <a:solidFill>
                  <a:srgbClr val="000000"/>
                </a:solidFill>
              </a:rPr>
              <a:t>Supervised machine learning framework utilizing NetFlow v3 dataset </a:t>
            </a:r>
            <a:r>
              <a:rPr lang="en">
                <a:solidFill>
                  <a:srgbClr val="000000"/>
                </a:solidFill>
              </a:rPr>
              <a:t>(NF-UNSW-NB15-v3)</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Preprocessing Utility</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Balancing and Sampling</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Model Benchmarking</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Work Done &amp; Challenges Faced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and Implementation</a:t>
            </a:r>
            <a:endParaRPr/>
          </a:p>
        </p:txBody>
      </p:sp>
      <p:sp>
        <p:nvSpPr>
          <p:cNvPr id="90" name="Google Shape;90;p19"/>
          <p:cNvSpPr txBox="1"/>
          <p:nvPr>
            <p:ph idx="1" type="body"/>
          </p:nvPr>
        </p:nvSpPr>
        <p:spPr>
          <a:xfrm>
            <a:off x="311700" y="1152475"/>
            <a:ext cx="7729800" cy="3878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600">
                <a:solidFill>
                  <a:schemeClr val="dk1"/>
                </a:solidFill>
              </a:rPr>
              <a:t>Challenge 1 : Multiple Datasets and Netflow Versions [Learnings from Case Study]</a:t>
            </a:r>
            <a:endParaRPr sz="1600">
              <a:solidFill>
                <a:schemeClr val="dk1"/>
              </a:solidFill>
            </a:endParaRPr>
          </a:p>
          <a:p>
            <a:pPr indent="0" lvl="0" marL="0" rtl="0" algn="l">
              <a:spcBef>
                <a:spcPts val="1200"/>
              </a:spcBef>
              <a:spcAft>
                <a:spcPts val="0"/>
              </a:spcAft>
              <a:buNone/>
            </a:pPr>
            <a:r>
              <a:rPr lang="en" sz="1600">
                <a:solidFill>
                  <a:schemeClr val="dk1"/>
                </a:solidFill>
              </a:rPr>
              <a:t>Solution : Used the latest Netflow V3 to get multiple benchmark datasets like :</a:t>
            </a:r>
            <a:endParaRPr sz="1600">
              <a:solidFill>
                <a:schemeClr val="dk1"/>
              </a:solidFill>
            </a:endParaRPr>
          </a:p>
          <a:p>
            <a:pPr indent="0" lvl="0" marL="0" rtl="0" algn="l">
              <a:spcBef>
                <a:spcPts val="1200"/>
              </a:spcBef>
              <a:spcAft>
                <a:spcPts val="0"/>
              </a:spcAft>
              <a:buNone/>
            </a:pPr>
            <a:r>
              <a:rPr lang="en" sz="1600">
                <a:solidFill>
                  <a:schemeClr val="dk1"/>
                </a:solidFill>
              </a:rPr>
              <a:t>→ </a:t>
            </a:r>
            <a:r>
              <a:rPr lang="en" sz="1200">
                <a:solidFill>
                  <a:schemeClr val="dk1"/>
                </a:solidFill>
                <a:highlight>
                  <a:srgbClr val="FFFFFF"/>
                </a:highlight>
                <a:latin typeface="Roboto"/>
                <a:ea typeface="Roboto"/>
                <a:cs typeface="Roboto"/>
                <a:sym typeface="Roboto"/>
              </a:rPr>
              <a:t>UNSW-NB15 [2,365,424 data flows , 5.4% attack samples]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chemeClr val="dk1"/>
                </a:solidFill>
                <a:highlight>
                  <a:srgbClr val="FFFFFF"/>
                </a:highlight>
                <a:latin typeface="Roboto"/>
                <a:ea typeface="Roboto"/>
                <a:cs typeface="Roboto"/>
                <a:sym typeface="Roboto"/>
              </a:rPr>
              <a:t>	Classes : </a:t>
            </a:r>
            <a:r>
              <a:rPr lang="en" sz="1050">
                <a:solidFill>
                  <a:schemeClr val="dk1"/>
                </a:solidFill>
                <a:highlight>
                  <a:srgbClr val="F9F9F9"/>
                </a:highlight>
                <a:latin typeface="Roboto"/>
                <a:ea typeface="Roboto"/>
                <a:cs typeface="Roboto"/>
                <a:sym typeface="Roboto"/>
              </a:rPr>
              <a:t>Fuzzers, Backdoor, </a:t>
            </a:r>
            <a:r>
              <a:rPr lang="en" sz="1050">
                <a:solidFill>
                  <a:schemeClr val="dk1"/>
                </a:solidFill>
                <a:highlight>
                  <a:srgbClr val="FFFFFF"/>
                </a:highlight>
                <a:latin typeface="Roboto"/>
                <a:ea typeface="Roboto"/>
                <a:cs typeface="Roboto"/>
                <a:sym typeface="Roboto"/>
              </a:rPr>
              <a:t>DoS, </a:t>
            </a:r>
            <a:r>
              <a:rPr lang="en" sz="1050">
                <a:solidFill>
                  <a:schemeClr val="dk1"/>
                </a:solidFill>
                <a:highlight>
                  <a:srgbClr val="F9F9F9"/>
                </a:highlight>
                <a:latin typeface="Roboto"/>
                <a:ea typeface="Roboto"/>
                <a:cs typeface="Roboto"/>
                <a:sym typeface="Roboto"/>
              </a:rPr>
              <a:t>Exploits, </a:t>
            </a:r>
            <a:r>
              <a:rPr lang="en" sz="1050">
                <a:solidFill>
                  <a:schemeClr val="dk1"/>
                </a:solidFill>
                <a:highlight>
                  <a:srgbClr val="FFFFFF"/>
                </a:highlight>
                <a:latin typeface="Roboto"/>
                <a:ea typeface="Roboto"/>
                <a:cs typeface="Roboto"/>
                <a:sym typeface="Roboto"/>
              </a:rPr>
              <a:t>Generic, </a:t>
            </a:r>
            <a:r>
              <a:rPr lang="en" sz="1050">
                <a:solidFill>
                  <a:schemeClr val="dk1"/>
                </a:solidFill>
                <a:highlight>
                  <a:srgbClr val="F9F9F9"/>
                </a:highlight>
                <a:latin typeface="Roboto"/>
                <a:ea typeface="Roboto"/>
                <a:cs typeface="Roboto"/>
                <a:sym typeface="Roboto"/>
              </a:rPr>
              <a:t>Reconnaissance, </a:t>
            </a:r>
            <a:r>
              <a:rPr lang="en" sz="1050">
                <a:solidFill>
                  <a:schemeClr val="dk1"/>
                </a:solidFill>
                <a:highlight>
                  <a:srgbClr val="FFFFFF"/>
                </a:highlight>
                <a:latin typeface="Roboto"/>
                <a:ea typeface="Roboto"/>
                <a:cs typeface="Roboto"/>
                <a:sym typeface="Roboto"/>
              </a:rPr>
              <a:t>Shellcode, and </a:t>
            </a:r>
            <a:r>
              <a:rPr lang="en" sz="1050">
                <a:solidFill>
                  <a:schemeClr val="dk1"/>
                </a:solidFill>
                <a:highlight>
                  <a:srgbClr val="F9F9F9"/>
                </a:highlight>
                <a:latin typeface="Roboto"/>
                <a:ea typeface="Roboto"/>
                <a:cs typeface="Roboto"/>
                <a:sym typeface="Roboto"/>
              </a:rPr>
              <a:t>Worms.</a:t>
            </a:r>
            <a:endParaRPr sz="1050">
              <a:solidFill>
                <a:schemeClr val="dk1"/>
              </a:solidFill>
              <a:highlight>
                <a:srgbClr val="F9F9F9"/>
              </a:highlight>
              <a:latin typeface="Roboto"/>
              <a:ea typeface="Roboto"/>
              <a:cs typeface="Roboto"/>
              <a:sym typeface="Roboto"/>
            </a:endParaRPr>
          </a:p>
          <a:p>
            <a:pPr indent="0" lvl="0" marL="0" rtl="0" algn="l">
              <a:spcBef>
                <a:spcPts val="1200"/>
              </a:spcBef>
              <a:spcAft>
                <a:spcPts val="0"/>
              </a:spcAft>
              <a:buNone/>
            </a:pPr>
            <a:r>
              <a:rPr lang="en" sz="1600">
                <a:solidFill>
                  <a:schemeClr val="dk1"/>
                </a:solidFill>
              </a:rPr>
              <a:t>→ </a:t>
            </a:r>
            <a:r>
              <a:rPr lang="en" sz="1200">
                <a:solidFill>
                  <a:schemeClr val="dk1"/>
                </a:solidFill>
                <a:highlight>
                  <a:srgbClr val="FFFFFF"/>
                </a:highlight>
                <a:latin typeface="Roboto"/>
                <a:ea typeface="Roboto"/>
                <a:cs typeface="Roboto"/>
                <a:sym typeface="Roboto"/>
              </a:rPr>
              <a:t>ToN-IoT [27,520,260 data flows , 38.98% attack samples]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chemeClr val="dk1"/>
                </a:solidFill>
                <a:highlight>
                  <a:srgbClr val="FFFFFF"/>
                </a:highlight>
                <a:latin typeface="Roboto"/>
                <a:ea typeface="Roboto"/>
                <a:cs typeface="Roboto"/>
                <a:sym typeface="Roboto"/>
              </a:rPr>
              <a:t>	Classes : </a:t>
            </a:r>
            <a:r>
              <a:rPr lang="en" sz="1050">
                <a:solidFill>
                  <a:schemeClr val="dk1"/>
                </a:solidFill>
                <a:highlight>
                  <a:srgbClr val="F9F9F9"/>
                </a:highlight>
                <a:latin typeface="Roboto"/>
                <a:ea typeface="Roboto"/>
                <a:cs typeface="Roboto"/>
                <a:sym typeface="Roboto"/>
              </a:rPr>
              <a:t>Backdoor, </a:t>
            </a:r>
            <a:r>
              <a:rPr lang="en" sz="1050">
                <a:solidFill>
                  <a:schemeClr val="dk1"/>
                </a:solidFill>
                <a:highlight>
                  <a:srgbClr val="FFFFFF"/>
                </a:highlight>
                <a:latin typeface="Roboto"/>
                <a:ea typeface="Roboto"/>
                <a:cs typeface="Roboto"/>
                <a:sym typeface="Roboto"/>
              </a:rPr>
              <a:t>DoS, DDoS, Injection, </a:t>
            </a:r>
            <a:r>
              <a:rPr lang="en" sz="1050">
                <a:solidFill>
                  <a:schemeClr val="dk1"/>
                </a:solidFill>
                <a:highlight>
                  <a:srgbClr val="F9F9F9"/>
                </a:highlight>
                <a:latin typeface="Roboto"/>
                <a:ea typeface="Roboto"/>
                <a:cs typeface="Roboto"/>
                <a:sym typeface="Roboto"/>
              </a:rPr>
              <a:t>MITM, </a:t>
            </a:r>
            <a:r>
              <a:rPr lang="en" sz="1050">
                <a:solidFill>
                  <a:schemeClr val="dk1"/>
                </a:solidFill>
                <a:highlight>
                  <a:srgbClr val="FFFFFF"/>
                </a:highlight>
                <a:latin typeface="Roboto"/>
                <a:ea typeface="Roboto"/>
                <a:cs typeface="Roboto"/>
                <a:sym typeface="Roboto"/>
              </a:rPr>
              <a:t>Password, </a:t>
            </a:r>
            <a:r>
              <a:rPr lang="en" sz="1050">
                <a:solidFill>
                  <a:schemeClr val="dk1"/>
                </a:solidFill>
                <a:highlight>
                  <a:srgbClr val="F9F9F9"/>
                </a:highlight>
                <a:latin typeface="Roboto"/>
                <a:ea typeface="Roboto"/>
                <a:cs typeface="Roboto"/>
                <a:sym typeface="Roboto"/>
              </a:rPr>
              <a:t>Ransomware, </a:t>
            </a:r>
            <a:r>
              <a:rPr lang="en" sz="1050">
                <a:solidFill>
                  <a:schemeClr val="dk1"/>
                </a:solidFill>
                <a:highlight>
                  <a:srgbClr val="FFFFFF"/>
                </a:highlight>
                <a:latin typeface="Roboto"/>
                <a:ea typeface="Roboto"/>
                <a:cs typeface="Roboto"/>
                <a:sym typeface="Roboto"/>
              </a:rPr>
              <a:t>Scanning, and </a:t>
            </a:r>
            <a:r>
              <a:rPr lang="en" sz="1050">
                <a:solidFill>
                  <a:schemeClr val="dk1"/>
                </a:solidFill>
                <a:highlight>
                  <a:srgbClr val="F9F9F9"/>
                </a:highlight>
                <a:latin typeface="Roboto"/>
                <a:ea typeface="Roboto"/>
                <a:cs typeface="Roboto"/>
                <a:sym typeface="Roboto"/>
              </a:rPr>
              <a:t>XSS.</a:t>
            </a:r>
            <a:endParaRPr sz="1050">
              <a:solidFill>
                <a:schemeClr val="dk1"/>
              </a:solidFill>
              <a:highlight>
                <a:srgbClr val="F9F9F9"/>
              </a:highlight>
              <a:latin typeface="Roboto"/>
              <a:ea typeface="Roboto"/>
              <a:cs typeface="Roboto"/>
              <a:sym typeface="Roboto"/>
            </a:endParaRPr>
          </a:p>
          <a:p>
            <a:pPr indent="0" lvl="0" marL="0" rtl="0" algn="l">
              <a:spcBef>
                <a:spcPts val="1200"/>
              </a:spcBef>
              <a:spcAft>
                <a:spcPts val="0"/>
              </a:spcAft>
              <a:buNone/>
            </a:pPr>
            <a:r>
              <a:rPr lang="en" sz="1600">
                <a:solidFill>
                  <a:schemeClr val="dk1"/>
                </a:solidFill>
              </a:rPr>
              <a:t>→ </a:t>
            </a:r>
            <a:r>
              <a:rPr lang="en" sz="1200">
                <a:solidFill>
                  <a:schemeClr val="dk1"/>
                </a:solidFill>
                <a:highlight>
                  <a:srgbClr val="FFFFFF"/>
                </a:highlight>
                <a:latin typeface="Roboto"/>
                <a:ea typeface="Roboto"/>
                <a:cs typeface="Roboto"/>
                <a:sym typeface="Roboto"/>
              </a:rPr>
              <a:t>BOT-IoT [16,993,808 data flows , 99.7% attack samples]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chemeClr val="dk1"/>
                </a:solidFill>
                <a:highlight>
                  <a:srgbClr val="FFFFFF"/>
                </a:highlight>
                <a:latin typeface="Roboto"/>
                <a:ea typeface="Roboto"/>
                <a:cs typeface="Roboto"/>
                <a:sym typeface="Roboto"/>
              </a:rPr>
              <a:t>	Classes : </a:t>
            </a:r>
            <a:r>
              <a:rPr lang="en" sz="1050">
                <a:solidFill>
                  <a:schemeClr val="dk1"/>
                </a:solidFill>
                <a:highlight>
                  <a:srgbClr val="F9F9F9"/>
                </a:highlight>
                <a:latin typeface="Roboto"/>
                <a:ea typeface="Roboto"/>
                <a:cs typeface="Roboto"/>
                <a:sym typeface="Roboto"/>
              </a:rPr>
              <a:t>Reconnaissance, </a:t>
            </a:r>
            <a:r>
              <a:rPr lang="en" sz="1050">
                <a:solidFill>
                  <a:schemeClr val="dk1"/>
                </a:solidFill>
                <a:highlight>
                  <a:srgbClr val="FFFFFF"/>
                </a:highlight>
                <a:latin typeface="Roboto"/>
                <a:ea typeface="Roboto"/>
                <a:cs typeface="Roboto"/>
                <a:sym typeface="Roboto"/>
              </a:rPr>
              <a:t>DDoS, DoS, and Theft.</a:t>
            </a:r>
            <a:endParaRPr sz="105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 sz="1600">
                <a:solidFill>
                  <a:schemeClr val="dk1"/>
                </a:solidFill>
              </a:rPr>
              <a:t>→</a:t>
            </a:r>
            <a:r>
              <a:rPr lang="en" sz="1200">
                <a:solidFill>
                  <a:schemeClr val="dk1"/>
                </a:solidFill>
                <a:highlight>
                  <a:srgbClr val="FFFFFF"/>
                </a:highlight>
                <a:latin typeface="Roboto"/>
                <a:ea typeface="Roboto"/>
                <a:cs typeface="Roboto"/>
                <a:sym typeface="Roboto"/>
              </a:rPr>
              <a:t> CSE-CIC-IDS2018 [20,115,529 data flows , 12.9% attack samples]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rPr lang="en" sz="1200">
                <a:solidFill>
                  <a:schemeClr val="dk1"/>
                </a:solidFill>
                <a:highlight>
                  <a:srgbClr val="FFFFFF"/>
                </a:highlight>
                <a:latin typeface="Roboto"/>
                <a:ea typeface="Roboto"/>
                <a:cs typeface="Roboto"/>
                <a:sym typeface="Roboto"/>
              </a:rPr>
              <a:t>	Classes : </a:t>
            </a:r>
            <a:r>
              <a:rPr lang="en" sz="1050">
                <a:solidFill>
                  <a:schemeClr val="dk1"/>
                </a:solidFill>
                <a:highlight>
                  <a:srgbClr val="F9F9F9"/>
                </a:highlight>
                <a:latin typeface="Roboto"/>
                <a:ea typeface="Roboto"/>
                <a:cs typeface="Roboto"/>
                <a:sym typeface="Roboto"/>
              </a:rPr>
              <a:t>BruteForce, </a:t>
            </a:r>
            <a:r>
              <a:rPr lang="en" sz="1050">
                <a:solidFill>
                  <a:schemeClr val="dk1"/>
                </a:solidFill>
                <a:highlight>
                  <a:srgbClr val="FFFFFF"/>
                </a:highlight>
                <a:latin typeface="Roboto"/>
                <a:ea typeface="Roboto"/>
                <a:cs typeface="Roboto"/>
                <a:sym typeface="Roboto"/>
              </a:rPr>
              <a:t>Bot, </a:t>
            </a:r>
            <a:r>
              <a:rPr lang="en" sz="1050">
                <a:solidFill>
                  <a:schemeClr val="dk1"/>
                </a:solidFill>
                <a:highlight>
                  <a:srgbClr val="F9F9F9"/>
                </a:highlight>
                <a:latin typeface="Roboto"/>
                <a:ea typeface="Roboto"/>
                <a:cs typeface="Roboto"/>
                <a:sym typeface="Roboto"/>
              </a:rPr>
              <a:t>DoS, </a:t>
            </a:r>
            <a:r>
              <a:rPr lang="en" sz="1050">
                <a:solidFill>
                  <a:schemeClr val="dk1"/>
                </a:solidFill>
                <a:highlight>
                  <a:srgbClr val="FFFFFF"/>
                </a:highlight>
                <a:latin typeface="Roboto"/>
                <a:ea typeface="Roboto"/>
                <a:cs typeface="Roboto"/>
                <a:sym typeface="Roboto"/>
              </a:rPr>
              <a:t>DDoS, </a:t>
            </a:r>
            <a:r>
              <a:rPr lang="en" sz="1050">
                <a:solidFill>
                  <a:schemeClr val="dk1"/>
                </a:solidFill>
                <a:highlight>
                  <a:srgbClr val="F9F9F9"/>
                </a:highlight>
                <a:latin typeface="Roboto"/>
                <a:ea typeface="Roboto"/>
                <a:cs typeface="Roboto"/>
                <a:sym typeface="Roboto"/>
              </a:rPr>
              <a:t>Infiltration, </a:t>
            </a:r>
            <a:r>
              <a:rPr lang="en" sz="1050">
                <a:solidFill>
                  <a:schemeClr val="dk1"/>
                </a:solidFill>
                <a:highlight>
                  <a:srgbClr val="FFFFFF"/>
                </a:highlight>
                <a:latin typeface="Roboto"/>
                <a:ea typeface="Roboto"/>
                <a:cs typeface="Roboto"/>
                <a:sym typeface="Roboto"/>
              </a:rPr>
              <a:t>Web Attacks</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idx="1" type="body"/>
          </p:nvPr>
        </p:nvSpPr>
        <p:spPr>
          <a:xfrm>
            <a:off x="311700" y="1152475"/>
            <a:ext cx="3940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Challenge 2 : Very big dataset </a:t>
            </a:r>
            <a:endParaRPr sz="1400">
              <a:solidFill>
                <a:schemeClr val="dk1"/>
              </a:solidFill>
            </a:endParaRPr>
          </a:p>
          <a:p>
            <a:pPr indent="0" lvl="0" marL="0" rtl="0" algn="l">
              <a:spcBef>
                <a:spcPts val="1200"/>
              </a:spcBef>
              <a:spcAft>
                <a:spcPts val="0"/>
              </a:spcAft>
              <a:buNone/>
            </a:pPr>
            <a:r>
              <a:rPr lang="en" sz="1400">
                <a:solidFill>
                  <a:schemeClr val="dk1"/>
                </a:solidFill>
              </a:rPr>
              <a:t>66,995,021 records  and 53 features </a:t>
            </a:r>
            <a:endParaRPr sz="1400">
              <a:solidFill>
                <a:schemeClr val="dk1"/>
              </a:solidFill>
            </a:endParaRPr>
          </a:p>
          <a:p>
            <a:pPr indent="0" lvl="0" marL="0" rtl="0" algn="l">
              <a:spcBef>
                <a:spcPts val="1200"/>
              </a:spcBef>
              <a:spcAft>
                <a:spcPts val="0"/>
              </a:spcAft>
              <a:buNone/>
            </a:pPr>
            <a:r>
              <a:rPr lang="en" sz="1400">
                <a:solidFill>
                  <a:schemeClr val="dk1"/>
                </a:solidFill>
              </a:rPr>
              <a:t>43 [Attributes] + 10 [Temporal features]</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None/>
            </a:pPr>
            <a:r>
              <a:rPr lang="en" sz="1400">
                <a:solidFill>
                  <a:schemeClr val="dk1"/>
                </a:solidFill>
              </a:rPr>
              <a:t>Solution : </a:t>
            </a:r>
            <a:endParaRPr sz="1400">
              <a:solidFill>
                <a:schemeClr val="dk1"/>
              </a:solidFill>
            </a:endParaRPr>
          </a:p>
          <a:p>
            <a:pPr indent="0" lvl="0" marL="0" rtl="0" algn="l">
              <a:spcBef>
                <a:spcPts val="1200"/>
              </a:spcBef>
              <a:spcAft>
                <a:spcPts val="1200"/>
              </a:spcAft>
              <a:buNone/>
            </a:pPr>
            <a:r>
              <a:rPr lang="en" sz="1400">
                <a:solidFill>
                  <a:schemeClr val="dk1"/>
                </a:solidFill>
              </a:rPr>
              <a:t>Utility functions to download data frames and retrieve them from google drive to work efficiently made from the start along with a clear project structure.</a:t>
            </a:r>
            <a:endParaRPr sz="1400">
              <a:solidFill>
                <a:schemeClr val="dk1"/>
              </a:solidFill>
            </a:endParaRPr>
          </a:p>
        </p:txBody>
      </p:sp>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and Implementation</a:t>
            </a:r>
            <a:endParaRPr/>
          </a:p>
        </p:txBody>
      </p:sp>
      <p:pic>
        <p:nvPicPr>
          <p:cNvPr id="97" name="Google Shape;97;p20"/>
          <p:cNvPicPr preferRelativeResize="0"/>
          <p:nvPr/>
        </p:nvPicPr>
        <p:blipFill>
          <a:blip r:embed="rId3">
            <a:alphaModFix/>
          </a:blip>
          <a:stretch>
            <a:fillRect/>
          </a:stretch>
        </p:blipFill>
        <p:spPr>
          <a:xfrm>
            <a:off x="4572000" y="1017725"/>
            <a:ext cx="4072540" cy="38209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Challenges and Implementation</a:t>
            </a:r>
            <a:endParaRPr/>
          </a:p>
          <a:p>
            <a:pPr indent="0" lvl="0" marL="0" rtl="0" algn="l">
              <a:spcBef>
                <a:spcPts val="0"/>
              </a:spcBef>
              <a:spcAft>
                <a:spcPts val="0"/>
              </a:spcAft>
              <a:buNone/>
            </a:pPr>
            <a:r>
              <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95000"/>
              </a:lnSpc>
              <a:spcBef>
                <a:spcPts val="0"/>
              </a:spcBef>
              <a:spcAft>
                <a:spcPts val="0"/>
              </a:spcAft>
              <a:buClr>
                <a:schemeClr val="dk1"/>
              </a:buClr>
              <a:buSzPts val="1018"/>
              <a:buFont typeface="Arial"/>
              <a:buNone/>
            </a:pPr>
            <a:r>
              <a:rPr lang="en" sz="1665">
                <a:solidFill>
                  <a:schemeClr val="dk1"/>
                </a:solidFill>
              </a:rPr>
              <a:t>Challenge 3 : </a:t>
            </a:r>
            <a:endParaRPr sz="1665">
              <a:solidFill>
                <a:schemeClr val="dk1"/>
              </a:solidFill>
            </a:endParaRPr>
          </a:p>
          <a:p>
            <a:pPr indent="0" lvl="0" marL="0" rtl="0" algn="l">
              <a:lnSpc>
                <a:spcPct val="95000"/>
              </a:lnSpc>
              <a:spcBef>
                <a:spcPts val="1200"/>
              </a:spcBef>
              <a:spcAft>
                <a:spcPts val="0"/>
              </a:spcAft>
              <a:buNone/>
            </a:pPr>
            <a:r>
              <a:rPr lang="en" sz="1665">
                <a:solidFill>
                  <a:schemeClr val="dk1"/>
                </a:solidFill>
              </a:rPr>
              <a:t>Testing binary classification for multiple attack types [12 variations]</a:t>
            </a:r>
            <a:endParaRPr sz="1665">
              <a:solidFill>
                <a:schemeClr val="dk1"/>
              </a:solidFill>
            </a:endParaRPr>
          </a:p>
          <a:p>
            <a:pPr indent="0" lvl="0" marL="0" rtl="0" algn="l">
              <a:lnSpc>
                <a:spcPct val="95000"/>
              </a:lnSpc>
              <a:spcBef>
                <a:spcPts val="1200"/>
              </a:spcBef>
              <a:spcAft>
                <a:spcPts val="0"/>
              </a:spcAft>
              <a:buClr>
                <a:schemeClr val="dk1"/>
              </a:buClr>
              <a:buSzPts val="1018"/>
              <a:buFont typeface="Arial"/>
              <a:buNone/>
            </a:pPr>
            <a:r>
              <a:t/>
            </a:r>
            <a:endParaRPr sz="1665">
              <a:solidFill>
                <a:schemeClr val="dk1"/>
              </a:solidFill>
            </a:endParaRPr>
          </a:p>
          <a:p>
            <a:pPr indent="0" lvl="0" marL="0" rtl="0" algn="l">
              <a:spcBef>
                <a:spcPts val="1200"/>
              </a:spcBef>
              <a:spcAft>
                <a:spcPts val="0"/>
              </a:spcAft>
              <a:buNone/>
            </a:pPr>
            <a:r>
              <a:rPr lang="en">
                <a:solidFill>
                  <a:schemeClr val="dk1"/>
                </a:solidFill>
              </a:rPr>
              <a:t>→ 3 chosen models</a:t>
            </a:r>
            <a:endParaRPr>
              <a:solidFill>
                <a:schemeClr val="dk1"/>
              </a:solidFill>
            </a:endParaRPr>
          </a:p>
          <a:p>
            <a:pPr indent="0" lvl="0" marL="0" rtl="0" algn="l">
              <a:spcBef>
                <a:spcPts val="1200"/>
              </a:spcBef>
              <a:spcAft>
                <a:spcPts val="0"/>
              </a:spcAft>
              <a:buNone/>
            </a:pPr>
            <a:r>
              <a:rPr lang="en">
                <a:solidFill>
                  <a:schemeClr val="dk1"/>
                </a:solidFill>
              </a:rPr>
              <a:t>→ 12 dataset versions [11 attack types + 1 multi class] </a:t>
            </a:r>
            <a:endParaRPr sz="1665">
              <a:solidFill>
                <a:schemeClr val="dk1"/>
              </a:solidFill>
            </a:endParaRPr>
          </a:p>
          <a:p>
            <a:pPr indent="0" lvl="0" marL="0" rtl="0" algn="l">
              <a:lnSpc>
                <a:spcPct val="95000"/>
              </a:lnSpc>
              <a:spcBef>
                <a:spcPts val="1200"/>
              </a:spcBef>
              <a:spcAft>
                <a:spcPts val="0"/>
              </a:spcAft>
              <a:buNone/>
            </a:pPr>
            <a:r>
              <a:t/>
            </a:r>
            <a:endParaRPr sz="1665">
              <a:solidFill>
                <a:schemeClr val="dk1"/>
              </a:solidFill>
            </a:endParaRPr>
          </a:p>
          <a:p>
            <a:pPr indent="0" lvl="0" marL="0" rtl="0" algn="l">
              <a:lnSpc>
                <a:spcPct val="95000"/>
              </a:lnSpc>
              <a:spcBef>
                <a:spcPts val="1200"/>
              </a:spcBef>
              <a:spcAft>
                <a:spcPts val="0"/>
              </a:spcAft>
              <a:buNone/>
            </a:pPr>
            <a:r>
              <a:rPr lang="en" sz="1665">
                <a:solidFill>
                  <a:schemeClr val="dk1"/>
                </a:solidFill>
              </a:rPr>
              <a:t>Testing binary classification for multiple attack types [12 variations] </a:t>
            </a:r>
            <a:endParaRPr>
              <a:solidFill>
                <a:schemeClr val="dk1"/>
              </a:solidFill>
            </a:endParaRPr>
          </a:p>
          <a:p>
            <a:pPr indent="0" lvl="0" marL="0" rtl="0" algn="l">
              <a:spcBef>
                <a:spcPts val="1200"/>
              </a:spcBef>
              <a:spcAft>
                <a:spcPts val="0"/>
              </a:spcAft>
              <a:buNone/>
            </a:pPr>
            <a:r>
              <a:rPr lang="en">
                <a:solidFill>
                  <a:schemeClr val="dk1"/>
                </a:solidFill>
              </a:rPr>
              <a:t>→ 3 X 12 = 36 variations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and Implementation</a:t>
            </a:r>
            <a:endParaRPr/>
          </a:p>
        </p:txBody>
      </p:sp>
      <p:sp>
        <p:nvSpPr>
          <p:cNvPr id="109" name="Google Shape;109;p22"/>
          <p:cNvSpPr txBox="1"/>
          <p:nvPr>
            <p:ph idx="1" type="body"/>
          </p:nvPr>
        </p:nvSpPr>
        <p:spPr>
          <a:xfrm>
            <a:off x="311700" y="1152475"/>
            <a:ext cx="36879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lang="en" sz="1665">
                <a:solidFill>
                  <a:schemeClr val="dk1"/>
                </a:solidFill>
              </a:rPr>
              <a:t>Solution : </a:t>
            </a:r>
            <a:endParaRPr sz="1665">
              <a:solidFill>
                <a:schemeClr val="dk1"/>
              </a:solidFill>
            </a:endParaRPr>
          </a:p>
          <a:p>
            <a:pPr indent="0" lvl="0" marL="0" rtl="0" algn="l">
              <a:lnSpc>
                <a:spcPct val="95000"/>
              </a:lnSpc>
              <a:spcBef>
                <a:spcPts val="1200"/>
              </a:spcBef>
              <a:spcAft>
                <a:spcPts val="0"/>
              </a:spcAft>
              <a:buSzPts val="1018"/>
              <a:buNone/>
            </a:pPr>
            <a:r>
              <a:rPr lang="en" sz="1665">
                <a:solidFill>
                  <a:schemeClr val="dk1"/>
                </a:solidFill>
              </a:rPr>
              <a:t>Entire feature engineering, model training and evaluation pipeline is modular !</a:t>
            </a:r>
            <a:endParaRPr sz="1665">
              <a:solidFill>
                <a:schemeClr val="dk1"/>
              </a:solidFill>
            </a:endParaRPr>
          </a:p>
          <a:p>
            <a:pPr indent="0" lvl="0" marL="0" rtl="0" algn="l">
              <a:lnSpc>
                <a:spcPct val="95000"/>
              </a:lnSpc>
              <a:spcBef>
                <a:spcPts val="1200"/>
              </a:spcBef>
              <a:spcAft>
                <a:spcPts val="0"/>
              </a:spcAft>
              <a:buSzPts val="1018"/>
              <a:buNone/>
            </a:pPr>
            <a:r>
              <a:t/>
            </a:r>
            <a:endParaRPr sz="1665">
              <a:solidFill>
                <a:schemeClr val="dk1"/>
              </a:solidFill>
            </a:endParaRPr>
          </a:p>
          <a:p>
            <a:pPr indent="0" lvl="0" marL="0" rtl="0" algn="l">
              <a:lnSpc>
                <a:spcPct val="95000"/>
              </a:lnSpc>
              <a:spcBef>
                <a:spcPts val="1200"/>
              </a:spcBef>
              <a:spcAft>
                <a:spcPts val="0"/>
              </a:spcAft>
              <a:buSzPts val="1018"/>
              <a:buNone/>
            </a:pPr>
            <a:r>
              <a:t/>
            </a:r>
            <a:endParaRPr sz="1665">
              <a:solidFill>
                <a:schemeClr val="dk1"/>
              </a:solidFill>
            </a:endParaRPr>
          </a:p>
          <a:p>
            <a:pPr indent="0" lvl="0" marL="0" rtl="0" algn="l">
              <a:lnSpc>
                <a:spcPct val="95000"/>
              </a:lnSpc>
              <a:spcBef>
                <a:spcPts val="1200"/>
              </a:spcBef>
              <a:spcAft>
                <a:spcPts val="0"/>
              </a:spcAft>
              <a:buSzPts val="1018"/>
              <a:buNone/>
            </a:pPr>
            <a:r>
              <a:t/>
            </a:r>
            <a:endParaRPr sz="1665">
              <a:solidFill>
                <a:schemeClr val="dk1"/>
              </a:solidFill>
            </a:endParaRPr>
          </a:p>
          <a:p>
            <a:pPr indent="0" lvl="0" marL="0" rtl="0" algn="l">
              <a:lnSpc>
                <a:spcPct val="95000"/>
              </a:lnSpc>
              <a:spcBef>
                <a:spcPts val="1200"/>
              </a:spcBef>
              <a:spcAft>
                <a:spcPts val="1200"/>
              </a:spcAft>
              <a:buSzPts val="1018"/>
              <a:buNone/>
            </a:pPr>
            <a:r>
              <a:rPr lang="en" sz="1665">
                <a:solidFill>
                  <a:schemeClr val="dk1"/>
                </a:solidFill>
              </a:rPr>
              <a:t>[Can be made into a package with minor changes in the future]</a:t>
            </a:r>
            <a:endParaRPr sz="1665">
              <a:solidFill>
                <a:schemeClr val="dk1"/>
              </a:solidFill>
            </a:endParaRPr>
          </a:p>
        </p:txBody>
      </p:sp>
      <p:pic>
        <p:nvPicPr>
          <p:cNvPr id="110" name="Google Shape;110;p22"/>
          <p:cNvPicPr preferRelativeResize="0"/>
          <p:nvPr/>
        </p:nvPicPr>
        <p:blipFill>
          <a:blip r:embed="rId3">
            <a:alphaModFix/>
          </a:blip>
          <a:stretch>
            <a:fillRect/>
          </a:stretch>
        </p:blipFill>
        <p:spPr>
          <a:xfrm>
            <a:off x="4152000" y="1170125"/>
            <a:ext cx="4839600" cy="2928901"/>
          </a:xfrm>
          <a:prstGeom prst="rect">
            <a:avLst/>
          </a:prstGeom>
          <a:noFill/>
          <a:ln>
            <a:noFill/>
          </a:ln>
        </p:spPr>
      </p:pic>
      <p:sp>
        <p:nvSpPr>
          <p:cNvPr id="111" name="Google Shape;111;p22"/>
          <p:cNvSpPr txBox="1"/>
          <p:nvPr>
            <p:ph idx="1" type="body"/>
          </p:nvPr>
        </p:nvSpPr>
        <p:spPr>
          <a:xfrm>
            <a:off x="4040400" y="4251425"/>
            <a:ext cx="3687900" cy="464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Results shared in next section</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Engineering Pipeline</a:t>
            </a:r>
            <a:endParaRPr/>
          </a:p>
        </p:txBody>
      </p:sp>
      <p:sp>
        <p:nvSpPr>
          <p:cNvPr id="117" name="Google Shape;117;p23"/>
          <p:cNvSpPr txBox="1"/>
          <p:nvPr/>
        </p:nvSpPr>
        <p:spPr>
          <a:xfrm>
            <a:off x="311700" y="1017725"/>
            <a:ext cx="7400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Params : df , percentage_similarity, leaky_cols , label_cols</a:t>
            </a:r>
            <a:endParaRPr sz="1800">
              <a:solidFill>
                <a:schemeClr val="dk1"/>
              </a:solidFill>
            </a:endParaRPr>
          </a:p>
        </p:txBody>
      </p:sp>
      <p:pic>
        <p:nvPicPr>
          <p:cNvPr id="118" name="Google Shape;118;p23"/>
          <p:cNvPicPr preferRelativeResize="0"/>
          <p:nvPr/>
        </p:nvPicPr>
        <p:blipFill>
          <a:blip r:embed="rId3">
            <a:alphaModFix/>
          </a:blip>
          <a:stretch>
            <a:fillRect/>
          </a:stretch>
        </p:blipFill>
        <p:spPr>
          <a:xfrm>
            <a:off x="311700" y="1620150"/>
            <a:ext cx="7962688" cy="2886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Steps : </a:t>
            </a:r>
            <a:endParaRPr>
              <a:solidFill>
                <a:schemeClr val="dk1"/>
              </a:solidFill>
            </a:endParaRPr>
          </a:p>
          <a:p>
            <a:pPr indent="0" lvl="0" marL="0" rtl="0" algn="l">
              <a:spcBef>
                <a:spcPts val="1200"/>
              </a:spcBef>
              <a:spcAft>
                <a:spcPts val="0"/>
              </a:spcAft>
              <a:buNone/>
            </a:pPr>
            <a:r>
              <a:rPr lang="en">
                <a:solidFill>
                  <a:schemeClr val="dk1"/>
                </a:solidFill>
              </a:rPr>
              <a:t>	→ Seperate Labels </a:t>
            </a:r>
            <a:endParaRPr>
              <a:solidFill>
                <a:schemeClr val="dk1"/>
              </a:solidFill>
            </a:endParaRPr>
          </a:p>
          <a:p>
            <a:pPr indent="0" lvl="0" marL="0" rtl="0" algn="l">
              <a:spcBef>
                <a:spcPts val="1200"/>
              </a:spcBef>
              <a:spcAft>
                <a:spcPts val="0"/>
              </a:spcAft>
              <a:buNone/>
            </a:pPr>
            <a:r>
              <a:rPr lang="en">
                <a:solidFill>
                  <a:schemeClr val="dk1"/>
                </a:solidFill>
              </a:rPr>
              <a:t>	→ Remove leaky columns that can lead to overfitting</a:t>
            </a:r>
            <a:endParaRPr>
              <a:solidFill>
                <a:schemeClr val="dk1"/>
              </a:solidFill>
            </a:endParaRPr>
          </a:p>
          <a:p>
            <a:pPr indent="0" lvl="0" marL="0" rtl="0" algn="l">
              <a:spcBef>
                <a:spcPts val="1200"/>
              </a:spcBef>
              <a:spcAft>
                <a:spcPts val="0"/>
              </a:spcAft>
              <a:buNone/>
            </a:pPr>
            <a:r>
              <a:rPr lang="en">
                <a:solidFill>
                  <a:schemeClr val="dk1"/>
                </a:solidFill>
              </a:rPr>
              <a:t>	→ Handle infinite values and duplicate columns</a:t>
            </a:r>
            <a:endParaRPr>
              <a:solidFill>
                <a:schemeClr val="dk1"/>
              </a:solidFill>
            </a:endParaRPr>
          </a:p>
          <a:p>
            <a:pPr indent="0" lvl="0" marL="0" rtl="0" algn="l">
              <a:spcBef>
                <a:spcPts val="1200"/>
              </a:spcBef>
              <a:spcAft>
                <a:spcPts val="0"/>
              </a:spcAft>
              <a:buNone/>
            </a:pPr>
            <a:r>
              <a:rPr lang="en">
                <a:solidFill>
                  <a:schemeClr val="dk1"/>
                </a:solidFill>
              </a:rPr>
              <a:t>	→ Remove highly correlated columns [95% </a:t>
            </a:r>
            <a:r>
              <a:rPr lang="en">
                <a:solidFill>
                  <a:schemeClr val="dk1"/>
                </a:solidFill>
              </a:rPr>
              <a:t>Threshold</a:t>
            </a:r>
            <a:r>
              <a:rPr lang="en">
                <a:solidFill>
                  <a:schemeClr val="dk1"/>
                </a:solidFill>
              </a:rPr>
              <a:t>]</a:t>
            </a:r>
            <a:endParaRPr>
              <a:solidFill>
                <a:schemeClr val="dk1"/>
              </a:solidFill>
            </a:endParaRPr>
          </a:p>
          <a:p>
            <a:pPr indent="457200" lvl="0" marL="0" rtl="0" algn="l">
              <a:spcBef>
                <a:spcPts val="1200"/>
              </a:spcBef>
              <a:spcAft>
                <a:spcPts val="1200"/>
              </a:spcAft>
              <a:buNone/>
            </a:pPr>
            <a:r>
              <a:rPr lang="en">
                <a:solidFill>
                  <a:schemeClr val="dk1"/>
                </a:solidFill>
              </a:rPr>
              <a:t>→ Reduce samples in every category [Max 300k records per category]</a:t>
            </a:r>
            <a:endParaRPr>
              <a:solidFill>
                <a:schemeClr val="dk1"/>
              </a:solidFill>
            </a:endParaRPr>
          </a:p>
        </p:txBody>
      </p:sp>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Engineering Pipeline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Models and Training</a:t>
            </a:r>
            <a:endParaRPr/>
          </a:p>
        </p:txBody>
      </p:sp>
      <p:sp>
        <p:nvSpPr>
          <p:cNvPr id="130" name="Google Shape;130;p25"/>
          <p:cNvSpPr txBox="1"/>
          <p:nvPr>
            <p:ph idx="1" type="body"/>
          </p:nvPr>
        </p:nvSpPr>
        <p:spPr>
          <a:xfrm>
            <a:off x="311700" y="14873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 Logistic Regression [Baseline]</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 </a:t>
            </a:r>
            <a:r>
              <a:rPr lang="en">
                <a:solidFill>
                  <a:schemeClr val="dk1"/>
                </a:solidFill>
              </a:rPr>
              <a:t>KNN [Distance Based]</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 Random Forest [Ensemble Learning]</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Models, Metrics and Result Evaluation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Evaluation: Logistic Regression</a:t>
            </a:r>
            <a:endParaRPr/>
          </a:p>
        </p:txBody>
      </p:sp>
      <p:sp>
        <p:nvSpPr>
          <p:cNvPr id="141" name="Google Shape;141;p27"/>
          <p:cNvSpPr txBox="1"/>
          <p:nvPr>
            <p:ph idx="1" type="body"/>
          </p:nvPr>
        </p:nvSpPr>
        <p:spPr>
          <a:xfrm>
            <a:off x="138000" y="953425"/>
            <a:ext cx="8819100" cy="40395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solidFill>
                  <a:schemeClr val="dk1"/>
                </a:solidFill>
              </a:rPr>
              <a:t>Linear modeling struggled significantly, yielding a low 19.4% accuracy for multiclass classification.</a:t>
            </a:r>
            <a:endParaRPr sz="1900">
              <a:solidFill>
                <a:schemeClr val="dk1"/>
              </a:solidFill>
            </a:endParaRPr>
          </a:p>
          <a:p>
            <a:pPr indent="-349250" lvl="0" marL="457200" rtl="0" algn="l">
              <a:lnSpc>
                <a:spcPct val="150000"/>
              </a:lnSpc>
              <a:spcBef>
                <a:spcPts val="1000"/>
              </a:spcBef>
              <a:spcAft>
                <a:spcPts val="0"/>
              </a:spcAft>
              <a:buSzPts val="1900"/>
              <a:buChar char="➔"/>
            </a:pPr>
            <a:r>
              <a:rPr lang="en" sz="1900">
                <a:solidFill>
                  <a:schemeClr val="dk1"/>
                </a:solidFill>
              </a:rPr>
              <a:t>Complex attacks like DDoS were detected with only ~52.6% accuracy, barely outperforming random chance.</a:t>
            </a:r>
            <a:endParaRPr sz="1900">
              <a:solidFill>
                <a:schemeClr val="dk1"/>
              </a:solidFill>
            </a:endParaRPr>
          </a:p>
          <a:p>
            <a:pPr indent="-349250" lvl="0" marL="457200" rtl="0" algn="l">
              <a:lnSpc>
                <a:spcPct val="150000"/>
              </a:lnSpc>
              <a:spcBef>
                <a:spcPts val="1000"/>
              </a:spcBef>
              <a:spcAft>
                <a:spcPts val="0"/>
              </a:spcAft>
              <a:buSzPts val="1900"/>
              <a:buChar char="➔"/>
            </a:pPr>
            <a:r>
              <a:rPr lang="en" sz="1900">
                <a:solidFill>
                  <a:schemeClr val="dk1"/>
                </a:solidFill>
              </a:rPr>
              <a:t>High False Alarm Rates (~47.4% for DDoS) indicate the model cannot effectively separate attack traffic from noise.</a:t>
            </a:r>
            <a:endParaRPr sz="1900">
              <a:solidFill>
                <a:schemeClr val="dk1"/>
              </a:solidFill>
            </a:endParaRPr>
          </a:p>
          <a:p>
            <a:pPr indent="-349250" lvl="0" marL="457200" rtl="0" algn="l">
              <a:lnSpc>
                <a:spcPct val="150000"/>
              </a:lnSpc>
              <a:spcBef>
                <a:spcPts val="1000"/>
              </a:spcBef>
              <a:spcAft>
                <a:spcPts val="1000"/>
              </a:spcAft>
              <a:buSzPts val="1900"/>
              <a:buChar char="➔"/>
            </a:pPr>
            <a:r>
              <a:rPr lang="en" sz="1900">
                <a:solidFill>
                  <a:schemeClr val="dk1"/>
                </a:solidFill>
              </a:rPr>
              <a:t>The inability to generalize to Botnets (53.4% accuracy) confirms that linear boundaries are insufficient for NIDS.</a:t>
            </a:r>
            <a:endParaRPr sz="19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Model Results: Logistic Regression</a:t>
            </a:r>
            <a:endParaRPr/>
          </a:p>
        </p:txBody>
      </p:sp>
      <p:pic>
        <p:nvPicPr>
          <p:cNvPr id="147" name="Google Shape;147;p28"/>
          <p:cNvPicPr preferRelativeResize="0"/>
          <p:nvPr/>
        </p:nvPicPr>
        <p:blipFill>
          <a:blip r:embed="rId3">
            <a:alphaModFix/>
          </a:blip>
          <a:stretch>
            <a:fillRect/>
          </a:stretch>
        </p:blipFill>
        <p:spPr>
          <a:xfrm>
            <a:off x="152400" y="1123500"/>
            <a:ext cx="8839201" cy="289651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Distance-Based Classification: K-Nearest Neighbor</a:t>
            </a:r>
            <a:endParaRPr/>
          </a:p>
        </p:txBody>
      </p:sp>
      <p:sp>
        <p:nvSpPr>
          <p:cNvPr id="153" name="Google Shape;153;p29"/>
          <p:cNvSpPr txBox="1"/>
          <p:nvPr>
            <p:ph idx="1" type="body"/>
          </p:nvPr>
        </p:nvSpPr>
        <p:spPr>
          <a:xfrm>
            <a:off x="138000" y="953425"/>
            <a:ext cx="8819100" cy="40395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solidFill>
                  <a:schemeClr val="dk1"/>
                </a:solidFill>
              </a:rPr>
              <a:t>The non-parametric approach improved multiclass accuracy to 87.0%, demonstrating better pattern recognition.</a:t>
            </a:r>
            <a:endParaRPr sz="1900">
              <a:solidFill>
                <a:schemeClr val="dk1"/>
              </a:solidFill>
            </a:endParaRPr>
          </a:p>
          <a:p>
            <a:pPr indent="-349250" lvl="0" marL="457200" rtl="0" algn="l">
              <a:lnSpc>
                <a:spcPct val="150000"/>
              </a:lnSpc>
              <a:spcBef>
                <a:spcPts val="1000"/>
              </a:spcBef>
              <a:spcAft>
                <a:spcPts val="0"/>
              </a:spcAft>
              <a:buSzPts val="1900"/>
              <a:buChar char="➔"/>
            </a:pPr>
            <a:r>
              <a:rPr lang="en" sz="1900">
                <a:solidFill>
                  <a:schemeClr val="dk1"/>
                </a:solidFill>
              </a:rPr>
              <a:t>Botnet detection spiked to 99.9%, proving the model is highly effective against automated network threats.</a:t>
            </a:r>
            <a:endParaRPr sz="1900">
              <a:solidFill>
                <a:schemeClr val="dk1"/>
              </a:solidFill>
            </a:endParaRPr>
          </a:p>
          <a:p>
            <a:pPr indent="-349250" lvl="0" marL="457200" rtl="0" algn="l">
              <a:lnSpc>
                <a:spcPct val="150000"/>
              </a:lnSpc>
              <a:spcBef>
                <a:spcPts val="1000"/>
              </a:spcBef>
              <a:spcAft>
                <a:spcPts val="0"/>
              </a:spcAft>
              <a:buSzPts val="1900"/>
              <a:buChar char="➔"/>
            </a:pPr>
            <a:r>
              <a:rPr lang="en" sz="1900">
                <a:solidFill>
                  <a:schemeClr val="dk1"/>
                </a:solidFill>
              </a:rPr>
              <a:t>Infiltration attempts were identified with 95.6% accuracy, significantly outperforming the baseline on stealthy attacks.</a:t>
            </a:r>
            <a:endParaRPr sz="1900">
              <a:solidFill>
                <a:schemeClr val="dk1"/>
              </a:solidFill>
            </a:endParaRPr>
          </a:p>
          <a:p>
            <a:pPr indent="-349250" lvl="0" marL="457200" rtl="0" algn="l">
              <a:lnSpc>
                <a:spcPct val="150000"/>
              </a:lnSpc>
              <a:spcBef>
                <a:spcPts val="1000"/>
              </a:spcBef>
              <a:spcAft>
                <a:spcPts val="1000"/>
              </a:spcAft>
              <a:buSzPts val="1900"/>
              <a:buChar char="➔"/>
            </a:pPr>
            <a:r>
              <a:rPr lang="en" sz="1900">
                <a:solidFill>
                  <a:schemeClr val="dk1"/>
                </a:solidFill>
              </a:rPr>
              <a:t>Despite improvements, the model still struggled with false alarms for DDoS traffic (~2.2%), requiring further optimization.</a:t>
            </a:r>
            <a:endParaRPr sz="19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Distance-Based Model Results: K-Nearest Neighbor</a:t>
            </a:r>
            <a:endParaRPr/>
          </a:p>
        </p:txBody>
      </p:sp>
      <p:pic>
        <p:nvPicPr>
          <p:cNvPr id="159" name="Google Shape;159;p30"/>
          <p:cNvPicPr preferRelativeResize="0"/>
          <p:nvPr/>
        </p:nvPicPr>
        <p:blipFill>
          <a:blip r:embed="rId3">
            <a:alphaModFix/>
          </a:blip>
          <a:stretch>
            <a:fillRect/>
          </a:stretch>
        </p:blipFill>
        <p:spPr>
          <a:xfrm>
            <a:off x="152400" y="1123500"/>
            <a:ext cx="8839201" cy="289651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Ensemble Method Analysis: Random Forest</a:t>
            </a:r>
            <a:endParaRPr/>
          </a:p>
        </p:txBody>
      </p:sp>
      <p:sp>
        <p:nvSpPr>
          <p:cNvPr id="165" name="Google Shape;165;p31"/>
          <p:cNvSpPr txBox="1"/>
          <p:nvPr>
            <p:ph idx="1" type="body"/>
          </p:nvPr>
        </p:nvSpPr>
        <p:spPr>
          <a:xfrm>
            <a:off x="138000" y="953425"/>
            <a:ext cx="8819100" cy="40395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solidFill>
                  <a:schemeClr val="dk1"/>
                </a:solidFill>
              </a:rPr>
              <a:t>The ensemble architecture achieved the highest stability with a superior 97.7% weighted average accuracy.</a:t>
            </a:r>
            <a:endParaRPr sz="1900">
              <a:solidFill>
                <a:schemeClr val="dk1"/>
              </a:solidFill>
            </a:endParaRPr>
          </a:p>
          <a:p>
            <a:pPr indent="-349250" lvl="0" marL="457200" rtl="0" algn="l">
              <a:lnSpc>
                <a:spcPct val="150000"/>
              </a:lnSpc>
              <a:spcBef>
                <a:spcPts val="1000"/>
              </a:spcBef>
              <a:spcAft>
                <a:spcPts val="0"/>
              </a:spcAft>
              <a:buSzPts val="1900"/>
              <a:buChar char="➔"/>
            </a:pPr>
            <a:r>
              <a:rPr lang="en" sz="1900">
                <a:solidFill>
                  <a:schemeClr val="dk1"/>
                </a:solidFill>
              </a:rPr>
              <a:t>Critical DDoS attacks were identified with 99.6% precision, ensuring robust protection against service disruptions.</a:t>
            </a:r>
            <a:endParaRPr sz="1900">
              <a:solidFill>
                <a:schemeClr val="dk1"/>
              </a:solidFill>
            </a:endParaRPr>
          </a:p>
          <a:p>
            <a:pPr indent="-349250" lvl="0" marL="457200" rtl="0" algn="l">
              <a:lnSpc>
                <a:spcPct val="150000"/>
              </a:lnSpc>
              <a:spcBef>
                <a:spcPts val="1000"/>
              </a:spcBef>
              <a:spcAft>
                <a:spcPts val="0"/>
              </a:spcAft>
              <a:buSzPts val="1900"/>
              <a:buChar char="➔"/>
            </a:pPr>
            <a:r>
              <a:rPr lang="en" sz="1900">
                <a:solidFill>
                  <a:schemeClr val="dk1"/>
                </a:solidFill>
              </a:rPr>
              <a:t>False Alarm Rates for high-volume attacks dropped to a negligible 0.3%, solving the reliability issues of simpler models.</a:t>
            </a:r>
            <a:endParaRPr sz="1900">
              <a:solidFill>
                <a:schemeClr val="dk1"/>
              </a:solidFill>
            </a:endParaRPr>
          </a:p>
          <a:p>
            <a:pPr indent="-349250" lvl="0" marL="457200" rtl="0" algn="l">
              <a:lnSpc>
                <a:spcPct val="150000"/>
              </a:lnSpc>
              <a:spcBef>
                <a:spcPts val="1000"/>
              </a:spcBef>
              <a:spcAft>
                <a:spcPts val="1000"/>
              </a:spcAft>
              <a:buSzPts val="1900"/>
              <a:buChar char="➔"/>
            </a:pPr>
            <a:r>
              <a:rPr lang="en" sz="1900">
                <a:solidFill>
                  <a:schemeClr val="dk1"/>
                </a:solidFill>
              </a:rPr>
              <a:t>Stealthy Infiltration attempts were captured with 96.5% accuracy, the best performance across all tested algorithms.</a:t>
            </a:r>
            <a:endParaRPr sz="19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Ensemble Model Results: Random Forest</a:t>
            </a:r>
            <a:endParaRPr/>
          </a:p>
        </p:txBody>
      </p:sp>
      <p:pic>
        <p:nvPicPr>
          <p:cNvPr id="171" name="Google Shape;171;p32"/>
          <p:cNvPicPr preferRelativeResize="0"/>
          <p:nvPr/>
        </p:nvPicPr>
        <p:blipFill>
          <a:blip r:embed="rId3">
            <a:alphaModFix/>
          </a:blip>
          <a:stretch>
            <a:fillRect/>
          </a:stretch>
        </p:blipFill>
        <p:spPr>
          <a:xfrm>
            <a:off x="152400" y="1123500"/>
            <a:ext cx="8839201" cy="289651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Recommendations and Future Works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Encrypted and Payload Content </a:t>
            </a:r>
            <a:endParaRPr/>
          </a:p>
        </p:txBody>
      </p:sp>
      <p:sp>
        <p:nvSpPr>
          <p:cNvPr id="182" name="Google Shape;182;p34"/>
          <p:cNvSpPr txBox="1"/>
          <p:nvPr>
            <p:ph idx="1" type="body"/>
          </p:nvPr>
        </p:nvSpPr>
        <p:spPr>
          <a:xfrm>
            <a:off x="311700" y="1319925"/>
            <a:ext cx="8520600" cy="35250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Use </a:t>
            </a:r>
            <a:r>
              <a:rPr b="1" lang="en"/>
              <a:t>TLS handshake features</a:t>
            </a:r>
            <a:r>
              <a:rPr lang="en"/>
              <a:t> (cipher suite, certificate length, JA3 fingerprints)</a:t>
            </a:r>
            <a:endParaRPr/>
          </a:p>
          <a:p>
            <a:pPr indent="-342900" lvl="0" marL="457200" rtl="0" algn="l">
              <a:lnSpc>
                <a:spcPct val="200000"/>
              </a:lnSpc>
              <a:spcBef>
                <a:spcPts val="1000"/>
              </a:spcBef>
              <a:spcAft>
                <a:spcPts val="0"/>
              </a:spcAft>
              <a:buSzPts val="1800"/>
              <a:buChar char="●"/>
            </a:pPr>
            <a:r>
              <a:rPr lang="en"/>
              <a:t>Use </a:t>
            </a:r>
            <a:r>
              <a:rPr b="1" lang="en"/>
              <a:t>statistical payload analysis</a:t>
            </a:r>
            <a:r>
              <a:rPr lang="en"/>
              <a:t> (packet size, entropy, timing patterns)</a:t>
            </a:r>
            <a:endParaRPr/>
          </a:p>
          <a:p>
            <a:pPr indent="-342900" lvl="0" marL="457200" rtl="0" algn="l">
              <a:lnSpc>
                <a:spcPct val="200000"/>
              </a:lnSpc>
              <a:spcBef>
                <a:spcPts val="1000"/>
              </a:spcBef>
              <a:spcAft>
                <a:spcPts val="1000"/>
              </a:spcAft>
              <a:buSzPts val="1800"/>
              <a:buChar char="●"/>
            </a:pPr>
            <a:r>
              <a:rPr lang="en"/>
              <a:t>Explore </a:t>
            </a:r>
            <a:r>
              <a:rPr b="1" lang="en"/>
              <a:t>side-channel analysis</a:t>
            </a:r>
            <a:r>
              <a:rPr lang="en"/>
              <a:t> for encrypted flows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type="title"/>
          </p:nvPr>
        </p:nvSpPr>
        <p:spPr>
          <a:xfrm>
            <a:off x="311700" y="466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Hybrid Detection System</a:t>
            </a:r>
            <a:endParaRPr/>
          </a:p>
        </p:txBody>
      </p:sp>
      <p:sp>
        <p:nvSpPr>
          <p:cNvPr id="188" name="Google Shape;18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Combine NetFlow-based ML with Deep Packet Inspection (DPI)/host logs.</a:t>
            </a:r>
            <a:endParaRPr/>
          </a:p>
          <a:p>
            <a:pPr indent="0" lvl="0" marL="0" rtl="0" algn="l">
              <a:spcBef>
                <a:spcPts val="1200"/>
              </a:spcBef>
              <a:spcAft>
                <a:spcPts val="0"/>
              </a:spcAft>
              <a:buNone/>
            </a:pPr>
            <a:r>
              <a:t/>
            </a:r>
            <a:endParaRPr sz="900"/>
          </a:p>
          <a:p>
            <a:pPr indent="-342900" lvl="0" marL="457200" rtl="0" algn="l">
              <a:spcBef>
                <a:spcPts val="1200"/>
              </a:spcBef>
              <a:spcAft>
                <a:spcPts val="0"/>
              </a:spcAft>
              <a:buSzPts val="1800"/>
              <a:buChar char="❏"/>
            </a:pPr>
            <a:r>
              <a:rPr lang="en"/>
              <a:t>Working: Flow Model (First Layer)</a:t>
            </a:r>
            <a:endParaRPr/>
          </a:p>
          <a:p>
            <a:pPr indent="-342900" lvl="0" marL="457200" rtl="0" algn="l">
              <a:spcBef>
                <a:spcPts val="0"/>
              </a:spcBef>
              <a:spcAft>
                <a:spcPts val="0"/>
              </a:spcAft>
              <a:buSzPts val="1800"/>
              <a:buChar char="●"/>
            </a:pPr>
            <a:r>
              <a:rPr lang="en"/>
              <a:t>Fast, Scalable which is the first filter.</a:t>
            </a:r>
            <a:endParaRPr/>
          </a:p>
          <a:p>
            <a:pPr indent="-342900" lvl="0" marL="457200" rtl="0" algn="l">
              <a:spcBef>
                <a:spcPts val="0"/>
              </a:spcBef>
              <a:spcAft>
                <a:spcPts val="0"/>
              </a:spcAft>
              <a:buSzPts val="1800"/>
              <a:buChar char="●"/>
            </a:pPr>
            <a:r>
              <a:rPr lang="en"/>
              <a:t>Flags suspicious patterns (high volume, weird ports, </a:t>
            </a:r>
            <a:r>
              <a:rPr lang="en"/>
              <a:t>unusual</a:t>
            </a:r>
            <a:r>
              <a:rPr lang="en"/>
              <a:t> connections)</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DPI/Host Analysis (Second Layer)</a:t>
            </a:r>
            <a:endParaRPr/>
          </a:p>
          <a:p>
            <a:pPr indent="-342900" lvl="0" marL="457200" rtl="0" algn="l">
              <a:spcBef>
                <a:spcPts val="0"/>
              </a:spcBef>
              <a:spcAft>
                <a:spcPts val="0"/>
              </a:spcAft>
              <a:buSzPts val="1800"/>
              <a:buChar char="●"/>
            </a:pPr>
            <a:r>
              <a:rPr lang="en"/>
              <a:t>Triggered only for flagged flows</a:t>
            </a:r>
            <a:endParaRPr/>
          </a:p>
          <a:p>
            <a:pPr indent="-342900" lvl="0" marL="457200" rtl="0" algn="l">
              <a:spcBef>
                <a:spcPts val="0"/>
              </a:spcBef>
              <a:spcAft>
                <a:spcPts val="0"/>
              </a:spcAft>
              <a:buSzPts val="1800"/>
              <a:buChar char="●"/>
            </a:pPr>
            <a:r>
              <a:rPr lang="en"/>
              <a:t>Check payload, system logs, malware signatures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Real-time network simulation &amp; live model deployment</a:t>
            </a:r>
            <a:endParaRPr/>
          </a:p>
        </p:txBody>
      </p:sp>
      <p:sp>
        <p:nvSpPr>
          <p:cNvPr id="194" name="Google Shape;194;p36"/>
          <p:cNvSpPr txBox="1"/>
          <p:nvPr>
            <p:ph idx="1" type="body"/>
          </p:nvPr>
        </p:nvSpPr>
        <p:spPr>
          <a:xfrm>
            <a:off x="311700" y="1375700"/>
            <a:ext cx="8520600" cy="34164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Simulate live DoS, DDoS, brute-force attempts</a:t>
            </a:r>
            <a:br>
              <a:rPr lang="en"/>
            </a:br>
            <a:endParaRPr/>
          </a:p>
          <a:p>
            <a:pPr indent="-342900" lvl="0" marL="457200" rtl="0" algn="l">
              <a:lnSpc>
                <a:spcPct val="200000"/>
              </a:lnSpc>
              <a:spcBef>
                <a:spcPts val="0"/>
              </a:spcBef>
              <a:spcAft>
                <a:spcPts val="0"/>
              </a:spcAft>
              <a:buSzPts val="1800"/>
              <a:buChar char="●"/>
            </a:pPr>
            <a:r>
              <a:rPr lang="en"/>
              <a:t>Send real traffic into the trained model via middleware</a:t>
            </a:r>
            <a:br>
              <a:rPr lang="en"/>
            </a:br>
            <a:endParaRPr/>
          </a:p>
          <a:p>
            <a:pPr indent="-342900" lvl="0" marL="457200" rtl="0" algn="l">
              <a:lnSpc>
                <a:spcPct val="200000"/>
              </a:lnSpc>
              <a:spcBef>
                <a:spcPts val="0"/>
              </a:spcBef>
              <a:spcAft>
                <a:spcPts val="0"/>
              </a:spcAft>
              <a:buSzPts val="1800"/>
              <a:buChar char="●"/>
            </a:pPr>
            <a:r>
              <a:rPr lang="en"/>
              <a:t>Measure latency, throughput, packet drop rate with model in loop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a:t>
            </a:r>
            <a:r>
              <a:rPr lang="en"/>
              <a:t> with Deep Learning models</a:t>
            </a:r>
            <a:endParaRPr/>
          </a:p>
        </p:txBody>
      </p:sp>
      <p:sp>
        <p:nvSpPr>
          <p:cNvPr id="200" name="Google Shape;200;p37"/>
          <p:cNvSpPr txBox="1"/>
          <p:nvPr>
            <p:ph idx="1" type="body"/>
          </p:nvPr>
        </p:nvSpPr>
        <p:spPr>
          <a:xfrm>
            <a:off x="311700" y="1292000"/>
            <a:ext cx="8520600" cy="34164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Move beyond basic ML to DL models such as</a:t>
            </a:r>
            <a:endParaRPr/>
          </a:p>
          <a:p>
            <a:pPr indent="-342900" lvl="0" marL="457200" rtl="0" algn="l">
              <a:lnSpc>
                <a:spcPct val="200000"/>
              </a:lnSpc>
              <a:spcBef>
                <a:spcPts val="0"/>
              </a:spcBef>
              <a:spcAft>
                <a:spcPts val="0"/>
              </a:spcAft>
              <a:buSzPts val="1800"/>
              <a:buChar char="●"/>
            </a:pPr>
            <a:r>
              <a:rPr lang="en"/>
              <a:t>Convolutional Neural Network (CNN): Ideal for spatial feature extraction in packet headers or flow statistics.</a:t>
            </a:r>
            <a:endParaRPr/>
          </a:p>
          <a:p>
            <a:pPr indent="-342900" lvl="0" marL="457200" rtl="0" algn="l">
              <a:lnSpc>
                <a:spcPct val="200000"/>
              </a:lnSpc>
              <a:spcBef>
                <a:spcPts val="0"/>
              </a:spcBef>
              <a:spcAft>
                <a:spcPts val="0"/>
              </a:spcAft>
              <a:buSzPts val="1800"/>
              <a:buChar char="●"/>
            </a:pPr>
            <a:r>
              <a:rPr lang="en"/>
              <a:t>Long-Short Term Memory (LSTM) Network: Capture temporal dependencies and sequential patterns in network traffic over time.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06" name="Google Shape;20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600"/>
              <a:t>[1] </a:t>
            </a:r>
            <a:r>
              <a:rPr lang="en" sz="1600"/>
              <a:t>Dataset Paper : Luay, M., Layeghy, S., Hosseininoorbin, S., Sarhan, M., Moustafa, N., &amp; Portmann, M. (2025). Temporal analysis of NetFlow datasets for network intrusion detection Systems. arXiv (Cornell University). </a:t>
            </a:r>
            <a:r>
              <a:rPr lang="en" sz="1600" u="sng">
                <a:solidFill>
                  <a:schemeClr val="hlink"/>
                </a:solidFill>
                <a:hlinkClick r:id="rId3"/>
              </a:rPr>
              <a:t>https://doi.org/10.48550/arxiv.2503.04404</a:t>
            </a:r>
            <a:endParaRPr sz="1600"/>
          </a:p>
          <a:p>
            <a:pPr indent="0" lvl="0" marL="0" rtl="0" algn="l">
              <a:spcBef>
                <a:spcPts val="1200"/>
              </a:spcBef>
              <a:spcAft>
                <a:spcPts val="0"/>
              </a:spcAft>
              <a:buNone/>
            </a:pPr>
            <a:r>
              <a:rPr lang="en" sz="1600"/>
              <a:t>[2] </a:t>
            </a:r>
            <a:r>
              <a:rPr lang="en" sz="1600"/>
              <a:t>Case Study Paper: Sarhan, M., Layeghy, S., &amp; Portmann, M. (2021). Towards a standard feature set for network intrusion detection system datasets. Mobile Networks and Applications, 27(1), 357–370. </a:t>
            </a:r>
            <a:r>
              <a:rPr lang="en" sz="1600" u="sng">
                <a:solidFill>
                  <a:schemeClr val="hlink"/>
                </a:solidFill>
                <a:hlinkClick r:id="rId4"/>
              </a:rPr>
              <a:t>https://doi.org/10.1007/s11036-021-01843-0</a:t>
            </a:r>
            <a:endParaRPr sz="1600"/>
          </a:p>
          <a:p>
            <a:pPr indent="0" lvl="0" marL="0" rtl="0" algn="l">
              <a:spcBef>
                <a:spcPts val="1200"/>
              </a:spcBef>
              <a:spcAft>
                <a:spcPts val="0"/>
              </a:spcAft>
              <a:buNone/>
            </a:pPr>
            <a:r>
              <a:rPr lang="en" sz="1600"/>
              <a:t>[3] </a:t>
            </a:r>
            <a:r>
              <a:rPr lang="en" sz="1600"/>
              <a:t>Code Notebook: </a:t>
            </a:r>
            <a:endParaRPr sz="1600"/>
          </a:p>
          <a:p>
            <a:pPr indent="0" lvl="0" marL="0" rtl="0" algn="l">
              <a:spcBef>
                <a:spcPts val="1200"/>
              </a:spcBef>
              <a:spcAft>
                <a:spcPts val="0"/>
              </a:spcAft>
              <a:buNone/>
            </a:pPr>
            <a:r>
              <a:rPr lang="en" sz="1600" u="sng">
                <a:solidFill>
                  <a:schemeClr val="hlink"/>
                </a:solidFill>
                <a:hlinkClick r:id="rId5"/>
              </a:rPr>
              <a:t>https://drive.google.com/file/d/1B4WhYcyInRXWl-pwRsj-9xrWHaSBYmq8/view?usp=sharing</a:t>
            </a:r>
            <a:endParaRPr sz="1600"/>
          </a:p>
          <a:p>
            <a:pPr indent="0" lvl="0" marL="0" rtl="0" algn="l">
              <a:spcBef>
                <a:spcPts val="1200"/>
              </a:spcBef>
              <a:spcAft>
                <a:spcPts val="0"/>
              </a:spcAft>
              <a:buNone/>
            </a:pPr>
            <a:r>
              <a:rPr lang="en" sz="1600"/>
              <a:t>[4] </a:t>
            </a:r>
            <a:r>
              <a:rPr lang="en" sz="1600"/>
              <a:t>NIDS Dataset:</a:t>
            </a:r>
            <a:endParaRPr sz="1600"/>
          </a:p>
          <a:p>
            <a:pPr indent="0" lvl="0" marL="0" rtl="0" algn="l">
              <a:spcBef>
                <a:spcPts val="1200"/>
              </a:spcBef>
              <a:spcAft>
                <a:spcPts val="1200"/>
              </a:spcAft>
              <a:buNone/>
            </a:pPr>
            <a:r>
              <a:rPr lang="en" sz="1600" u="sng">
                <a:solidFill>
                  <a:schemeClr val="hlink"/>
                </a:solidFill>
                <a:hlinkClick r:id="rId6"/>
              </a:rPr>
              <a:t>https://staff.itee.uq.edu.au/marius/NIDS_datasets/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