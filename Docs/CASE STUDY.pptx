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Sora"/>
      <p:regular r:id="rId25"/>
      <p:bold r:id="rId26"/>
    </p:embeddedFon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ra-bold.fntdata"/><Relationship Id="rId25" Type="http://schemas.openxmlformats.org/officeDocument/2006/relationships/font" Target="fonts/Sora-regular.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now present our case study on the paper titled: “Towards a Standard Feature Set for Network Intrusion Detection System Datasets” published in the Mobile Networks and Applications journal.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f16b3aa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f16b3aa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f710ecabe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f710ecab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First I will explain the problem this paper addresses: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One of the main issues in NIDS research is that different datasets use completely different feature sets.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Because of this, models often end up memorizing dataset-specific patterns instead of learning real attack behavior.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That leads to poor generalization that means a model trained on one dataset usually fails on another.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 also makes benchmarking unfair and results hard to reproduce.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solve this, the paper proposes a standardized 43-feature set based on NetFlow v9, designed to make machine learning–based intrusion detection more consistent and comparable across datasets.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f710ecabe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f710ecabe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Now I will explain how this paper connects to our project.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Our FLNet dataset also focuses on flow-level features, it originally had 82 features which we had reduced to 30, analysing this paper will help us find flaws and improvements for our feature selection process this will help us remove redundancy, avoiding label leakage, etc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Analysing this paper also helped us understand how feature consistency directly affects the reliability of ML models for intrusion detection.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their approach basically guided our dataset preparation and feature-selection process, making our models more robust and comparable.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f16b3aa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f16b3aa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The core solution centers on replacing the proprietary, custom feature sets with an established industry-standard protocol: NetFlow.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f16b3aab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f16b3aab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how did the paper solve this problem of inconsistent datasets?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core idea was to propose a </a:t>
            </a:r>
            <a:r>
              <a:rPr b="1" lang="en">
                <a:solidFill>
                  <a:schemeClr val="dk1"/>
                </a:solidFill>
              </a:rPr>
              <a:t>standard feature set</a:t>
            </a:r>
            <a:r>
              <a:rPr lang="en">
                <a:solidFill>
                  <a:schemeClr val="dk1"/>
                </a:solidFill>
              </a:rPr>
              <a:t> for all NIDS datasets, and to base it on the NetFlow protocol.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Why NetFlow? For a few very practical reasons: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First, it's the de-facto </a:t>
            </a:r>
            <a:r>
              <a:rPr b="1" lang="en">
                <a:solidFill>
                  <a:schemeClr val="dk1"/>
                </a:solidFill>
              </a:rPr>
              <a:t>industry standard</a:t>
            </a:r>
            <a:r>
              <a:rPr lang="en">
                <a:solidFill>
                  <a:schemeClr val="dk1"/>
                </a:solidFill>
              </a:rPr>
              <a:t> for traffic collection and analysis.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makes it </a:t>
            </a:r>
            <a:r>
              <a:rPr b="1" lang="en">
                <a:solidFill>
                  <a:schemeClr val="dk1"/>
                </a:solidFill>
              </a:rPr>
              <a:t>highly practical and scalable</a:t>
            </a:r>
            <a:r>
              <a:rPr lang="en">
                <a:solidFill>
                  <a:schemeClr val="dk1"/>
                </a:solidFill>
              </a:rPr>
              <a:t> for real-world deployment, since many routers and switches already support 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And critically, the features are </a:t>
            </a:r>
            <a:r>
              <a:rPr b="1" lang="en">
                <a:solidFill>
                  <a:schemeClr val="dk1"/>
                </a:solidFill>
              </a:rPr>
              <a:t>flow-based and extracted from packet headers</a:t>
            </a:r>
            <a:r>
              <a:rPr lang="en">
                <a:solidFill>
                  <a:schemeClr val="dk1"/>
                </a:solidFill>
              </a:rPr>
              <a:t>. This means they don't rely on the </a:t>
            </a:r>
            <a:r>
              <a:rPr i="1" lang="en">
                <a:solidFill>
                  <a:schemeClr val="dk1"/>
                </a:solidFill>
              </a:rPr>
              <a:t>payload</a:t>
            </a:r>
            <a:r>
              <a:rPr lang="en">
                <a:solidFill>
                  <a:schemeClr val="dk1"/>
                </a:solidFill>
              </a:rPr>
              <a:t>, so the NIDS can still work even when traffic is encrypted—which is most traffic today.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paper compared two versions: a basic 12-feature set and their proposed standard of 43 features. As we'll see, that 43-feature set is the key to their results.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f710ecab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f710ecab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what </a:t>
            </a:r>
            <a:r>
              <a:rPr i="1" lang="en">
                <a:solidFill>
                  <a:schemeClr val="dk1"/>
                </a:solidFill>
              </a:rPr>
              <a:t>are</a:t>
            </a:r>
            <a:r>
              <a:rPr lang="en">
                <a:solidFill>
                  <a:schemeClr val="dk1"/>
                </a:solidFill>
              </a:rPr>
              <a:t> these 43 features?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shows the complete list, and while we won't go through every single one, I want to highlight the </a:t>
            </a:r>
            <a:r>
              <a:rPr i="1" lang="en">
                <a:solidFill>
                  <a:schemeClr val="dk1"/>
                </a:solidFill>
              </a:rPr>
              <a:t>types</a:t>
            </a:r>
            <a:r>
              <a:rPr lang="en">
                <a:solidFill>
                  <a:schemeClr val="dk1"/>
                </a:solidFill>
              </a:rPr>
              <a:t> of information they're capturing. You can see they've broken them down into logical groups.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First, you have the </a:t>
            </a:r>
            <a:r>
              <a:rPr b="1" lang="en">
                <a:solidFill>
                  <a:schemeClr val="dk1"/>
                </a:solidFill>
              </a:rPr>
              <a:t>basic identifiers</a:t>
            </a:r>
            <a:r>
              <a:rPr lang="en">
                <a:solidFill>
                  <a:schemeClr val="dk1"/>
                </a:solidFill>
              </a:rPr>
              <a:t>—the "who, what, and where" like IP addresses and port numbers.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 you have </a:t>
            </a:r>
            <a:r>
              <a:rPr b="1" lang="en">
                <a:solidFill>
                  <a:schemeClr val="dk1"/>
                </a:solidFill>
              </a:rPr>
              <a:t>volume and duration</a:t>
            </a:r>
            <a:r>
              <a:rPr lang="en">
                <a:solidFill>
                  <a:schemeClr val="dk1"/>
                </a:solidFill>
              </a:rPr>
              <a:t>, which includes things like </a:t>
            </a:r>
            <a:r>
              <a:rPr lang="en">
                <a:solidFill>
                  <a:srgbClr val="188038"/>
                </a:solidFill>
                <a:latin typeface="Roboto Mono"/>
                <a:ea typeface="Roboto Mono"/>
                <a:cs typeface="Roboto Mono"/>
                <a:sym typeface="Roboto Mono"/>
              </a:rPr>
              <a:t>IN_BYTES</a:t>
            </a:r>
            <a:r>
              <a:rPr lang="en">
                <a:solidFill>
                  <a:schemeClr val="dk1"/>
                </a:solidFill>
              </a:rPr>
              <a:t>, </a:t>
            </a:r>
            <a:r>
              <a:rPr lang="en">
                <a:solidFill>
                  <a:srgbClr val="188038"/>
                </a:solidFill>
                <a:latin typeface="Roboto Mono"/>
                <a:ea typeface="Roboto Mono"/>
                <a:cs typeface="Roboto Mono"/>
                <a:sym typeface="Roboto Mono"/>
              </a:rPr>
              <a:t>OUT_PKTS</a:t>
            </a:r>
            <a:r>
              <a:rPr lang="en">
                <a:solidFill>
                  <a:schemeClr val="dk1"/>
                </a:solidFill>
              </a:rPr>
              <a:t>, and </a:t>
            </a:r>
            <a:r>
              <a:rPr lang="en">
                <a:solidFill>
                  <a:srgbClr val="188038"/>
                </a:solidFill>
                <a:latin typeface="Roboto Mono"/>
                <a:ea typeface="Roboto Mono"/>
                <a:cs typeface="Roboto Mono"/>
                <a:sym typeface="Roboto Mono"/>
              </a:rPr>
              <a:t>FLOW_DURATION</a:t>
            </a:r>
            <a:r>
              <a:rPr lang="en">
                <a:solidFill>
                  <a:schemeClr val="dk1"/>
                </a:solidFill>
              </a:rPr>
              <a:t>. This tells you how much data was sent and for how long.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Then, you get crucial </a:t>
            </a:r>
            <a:r>
              <a:rPr b="1" lang="en">
                <a:solidFill>
                  <a:schemeClr val="dk1"/>
                </a:solidFill>
              </a:rPr>
              <a:t>behavioral features</a:t>
            </a:r>
            <a:r>
              <a:rPr lang="en">
                <a:solidFill>
                  <a:schemeClr val="dk1"/>
                </a:solidFill>
              </a:rPr>
              <a:t>. This includes </a:t>
            </a:r>
            <a:r>
              <a:rPr lang="en">
                <a:solidFill>
                  <a:srgbClr val="188038"/>
                </a:solidFill>
                <a:latin typeface="Roboto Mono"/>
                <a:ea typeface="Roboto Mono"/>
                <a:cs typeface="Roboto Mono"/>
                <a:sym typeface="Roboto Mono"/>
              </a:rPr>
              <a:t>TCP_FLAGS</a:t>
            </a:r>
            <a:r>
              <a:rPr lang="en">
                <a:solidFill>
                  <a:schemeClr val="dk1"/>
                </a:solidFill>
              </a:rPr>
              <a:t> and </a:t>
            </a:r>
            <a:r>
              <a:rPr lang="en">
                <a:solidFill>
                  <a:srgbClr val="188038"/>
                </a:solidFill>
                <a:latin typeface="Roboto Mono"/>
                <a:ea typeface="Roboto Mono"/>
                <a:cs typeface="Roboto Mono"/>
                <a:sym typeface="Roboto Mono"/>
              </a:rPr>
              <a:t>RETRANSMITTED</a:t>
            </a:r>
            <a:r>
              <a:rPr lang="en">
                <a:solidFill>
                  <a:schemeClr val="dk1"/>
                </a:solidFill>
              </a:rPr>
              <a:t> packets, which are excellent for spotting things like port scans or unusual connection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they include </a:t>
            </a:r>
            <a:r>
              <a:rPr b="1" lang="en">
                <a:solidFill>
                  <a:schemeClr val="dk1"/>
                </a:solidFill>
              </a:rPr>
              <a:t>application-layer details</a:t>
            </a:r>
            <a:r>
              <a:rPr lang="en">
                <a:solidFill>
                  <a:schemeClr val="dk1"/>
                </a:solidFill>
              </a:rPr>
              <a:t> for specific protocols like </a:t>
            </a:r>
            <a:r>
              <a:rPr lang="en">
                <a:solidFill>
                  <a:srgbClr val="188038"/>
                </a:solidFill>
                <a:latin typeface="Roboto Mono"/>
                <a:ea typeface="Roboto Mono"/>
                <a:cs typeface="Roboto Mono"/>
                <a:sym typeface="Roboto Mono"/>
              </a:rPr>
              <a:t>DNS_QUERY_TYPE</a:t>
            </a:r>
            <a:r>
              <a:rPr lang="en">
                <a:solidFill>
                  <a:schemeClr val="dk1"/>
                </a:solidFill>
              </a:rPr>
              <a:t> and </a:t>
            </a:r>
            <a:r>
              <a:rPr lang="en">
                <a:solidFill>
                  <a:srgbClr val="188038"/>
                </a:solidFill>
                <a:latin typeface="Roboto Mono"/>
                <a:ea typeface="Roboto Mono"/>
                <a:cs typeface="Roboto Mono"/>
                <a:sym typeface="Roboto Mono"/>
              </a:rPr>
              <a:t>FTP_COMMAND</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combination gives a very comprehensive, multi-layered view of the traffic, using only standardized, header-based information."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f16b3aab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f16b3aab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researchers didn't just propose this set—they proved it would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they took the publicly available raw packet capture (pcap) files from those four famous datasets we mentioned: </a:t>
            </a:r>
            <a:r>
              <a:rPr b="1" lang="en">
                <a:solidFill>
                  <a:schemeClr val="dk1"/>
                </a:solidFill>
              </a:rPr>
              <a:t>UNSW-NB15, BoT-IoT, TON-IoT, and CSE-CIC-IDS2018</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using a standard tool called 'nProbe' , they re-processed all of this raw traffic, but this time they extracted </a:t>
            </a:r>
            <a:r>
              <a:rPr i="1" lang="en">
                <a:solidFill>
                  <a:schemeClr val="dk1"/>
                </a:solidFill>
              </a:rPr>
              <a:t>only</a:t>
            </a:r>
            <a:r>
              <a:rPr lang="en">
                <a:solidFill>
                  <a:schemeClr val="dk1"/>
                </a:solidFill>
              </a:rPr>
              <a:t> their proposed </a:t>
            </a:r>
            <a:r>
              <a:rPr b="1" lang="en">
                <a:solidFill>
                  <a:schemeClr val="dk1"/>
                </a:solidFill>
              </a:rPr>
              <a:t>43 NetFlow v9 features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process created new, standardized versions of each dataset, which they call the </a:t>
            </a:r>
            <a:r>
              <a:rPr b="1" lang="en">
                <a:solidFill>
                  <a:schemeClr val="dk1"/>
                </a:solidFill>
              </a:rPr>
              <a:t>'NF-v2' datasets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here is the most powerful part: because all these new datasets now share the </a:t>
            </a:r>
            <a:r>
              <a:rPr b="1" lang="en">
                <a:solidFill>
                  <a:schemeClr val="dk1"/>
                </a:solidFill>
              </a:rPr>
              <a:t>exact same standard features</a:t>
            </a:r>
            <a:r>
              <a:rPr lang="en">
                <a:solidFill>
                  <a:schemeClr val="dk1"/>
                </a:solidFill>
              </a:rPr>
              <a:t>, they can be combined. The authors were able to </a:t>
            </a:r>
            <a:r>
              <a:rPr b="1" lang="en">
                <a:solidFill>
                  <a:schemeClr val="dk1"/>
                </a:solidFill>
              </a:rPr>
              <a:t>merge all four into a single, comprehensive dataset</a:t>
            </a:r>
            <a:r>
              <a:rPr lang="en">
                <a:solidFill>
                  <a:schemeClr val="dk1"/>
                </a:solidFill>
              </a:rPr>
              <a:t>. This right here demonstrates the true power of having a standard—it allows us to create richer, more diverse data for training our models."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f16b3aab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f16b3aab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f710ecabe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f710ecabe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 authors evaluated their proposed feature set through both binary and multi-class classification tasks using the Extra Trees model.</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They applied five-fold cross-validation and measured accuracy, AUC, F1, detection rate, falsealarm rate, and latency.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Three configurations were compared — the original dataset features, a basic 12-feature NetFlow version, and the extended 43-feature set.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Across all datasets, the extended 43-feature NetFlow configuration produced the best accuracy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f710ecabe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f710ecabe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43 features proposed (can refer photos on slide 7)</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12 base feature set: IPV4_SRC_ADDR, IPV4_DST_ADDR, L4_SRC_PORT, L4_DST_PORT, PROTOCOL, IN_BYTES, OUT_BYTES, IN_PKTS, OUT_PKTS, FLOW_DURATION_MILLISECONDS, TCP_FLAGS, L7_PROTO</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We had 82 features for FLNET: </a:t>
            </a:r>
            <a:r>
              <a:rPr lang="en"/>
              <a:t>'flow_duration', 'flow_byts_s', 'flow_pkts_s', 'bwd_pkts_s',</a:t>
            </a:r>
            <a:endParaRPr/>
          </a:p>
          <a:p>
            <a:pPr indent="0" lvl="0" marL="0" rtl="0" algn="l">
              <a:spcBef>
                <a:spcPts val="0"/>
              </a:spcBef>
              <a:spcAft>
                <a:spcPts val="0"/>
              </a:spcAft>
              <a:buNone/>
            </a:pPr>
            <a:r>
              <a:rPr lang="en"/>
              <a:t>       'tot_fwd_pkts', 'fwd_pkt_len_max', 'fwd_pkt_len_min', 'fwd_pkt_len_std',</a:t>
            </a:r>
            <a:endParaRPr/>
          </a:p>
          <a:p>
            <a:pPr indent="0" lvl="0" marL="0" rtl="0" algn="l">
              <a:spcBef>
                <a:spcPts val="0"/>
              </a:spcBef>
              <a:spcAft>
                <a:spcPts val="0"/>
              </a:spcAft>
              <a:buNone/>
            </a:pPr>
            <a:r>
              <a:rPr lang="en"/>
              <a:t>       'bwd_pkt_len_min', 'fwd_seg_size_min', 'flow_iat_mean', 'flow_iat_max',</a:t>
            </a:r>
            <a:endParaRPr/>
          </a:p>
          <a:p>
            <a:pPr indent="0" lvl="0" marL="0" rtl="0" algn="l">
              <a:spcBef>
                <a:spcPts val="0"/>
              </a:spcBef>
              <a:spcAft>
                <a:spcPts val="0"/>
              </a:spcAft>
              <a:buNone/>
            </a:pPr>
            <a:r>
              <a:rPr lang="en"/>
              <a:t>       'flow_iat_min', 'flow_iat_std', 'fwd_iat_min', 'bwd_iat_tot',</a:t>
            </a:r>
            <a:endParaRPr/>
          </a:p>
          <a:p>
            <a:pPr indent="0" lvl="0" marL="0" rtl="0" algn="l">
              <a:spcBef>
                <a:spcPts val="0"/>
              </a:spcBef>
              <a:spcAft>
                <a:spcPts val="0"/>
              </a:spcAft>
              <a:buNone/>
            </a:pPr>
            <a:r>
              <a:rPr lang="en"/>
              <a:t>       'bwd_iat_max', 'bwd_iat_mean', 'fin_flag_cnt', 'down_up_ratio',</a:t>
            </a:r>
            <a:endParaRPr/>
          </a:p>
          <a:p>
            <a:pPr indent="0" lvl="0" marL="0" rtl="0" algn="l">
              <a:spcBef>
                <a:spcPts val="0"/>
              </a:spcBef>
              <a:spcAft>
                <a:spcPts val="0"/>
              </a:spcAft>
              <a:buNone/>
            </a:pPr>
            <a:r>
              <a:rPr lang="en"/>
              <a:t>       'init_bwd_win_byts', 'active_max', 'active_min', 'active_mean',</a:t>
            </a:r>
            <a:endParaRPr/>
          </a:p>
          <a:p>
            <a:pPr indent="0" lvl="0" marL="0" rtl="0" algn="l">
              <a:spcBef>
                <a:spcPts val="0"/>
              </a:spcBef>
              <a:spcAft>
                <a:spcPts val="0"/>
              </a:spcAft>
              <a:buNone/>
            </a:pPr>
            <a:r>
              <a:rPr lang="en"/>
              <a:t>       'idle_min', 'idle_mean', 'fwd_byts_b_avg', 'bwd_byts_b_avg',</a:t>
            </a:r>
            <a:endParaRPr/>
          </a:p>
          <a:p>
            <a:pPr indent="0" lvl="0" marL="0" rtl="0" algn="l">
              <a:spcBef>
                <a:spcPts val="0"/>
              </a:spcBef>
              <a:spcAft>
                <a:spcPts val="0"/>
              </a:spcAft>
              <a:buNone/>
            </a:pPr>
            <a:r>
              <a:rPr lang="en"/>
              <a:t>       'fwd_blk_rate_avg', 'bwd_blk_rate_avg'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f710ecabe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f710ecabe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 results showed a clear accuracy improvement — the average F1 score improved by up to</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10%, and the merged dataset’s F1 jumped from 0.79 to 0.97.</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However, some attacks like Infiltration and MITM remained hard to detect, suggesting that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NetFlow data alone may not fully capture those behaviors.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Latency per flow decreased significantly, making their setup computationally eﬃcient.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Another limitation is that they tested within each dataset but didn’t train on one and test on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another, so their generalization capability remains uncertain.</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f710ecabe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f710ecabe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Their evaluation gave us a good foundation, but we’re expanding it in several ways.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We’ll use the same binary and multi-class setup for fair benchmarking, but also add cross-time validation to simulate unseen traﬃc conditions rather than a regular 30-70 split.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[5 fold cross validation]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We have implemented PCA earlier to reduce features but we can use </a:t>
            </a:r>
            <a:r>
              <a:rPr lang="en" sz="1200">
                <a:solidFill>
                  <a:schemeClr val="dk1"/>
                </a:solidFill>
              </a:rPr>
              <a:t>SHAP / PCA with the prediction value</a:t>
            </a:r>
            <a:r>
              <a:rPr lang="en" sz="1200">
                <a:solidFill>
                  <a:schemeClr val="dk1"/>
                </a:solidFill>
              </a:rPr>
              <a:t> to analyze feature importance for our implementation which they didn’t include.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We’ll also compare standardized versus attack-specific engineered features within FLNet.</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Finally, we’ll measure both accuracy and latency to assess whether our models could work in real-time network intrusion scenarios</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f16b3aab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f16b3aab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I will talk about how analysing this paper is shaping our future work for this project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f3743256e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f3743256e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now align our feature set with the 43 NetFlow features proposed in this paper and train on the dataset published by them.</a:t>
            </a:r>
            <a:endParaRPr>
              <a:solidFill>
                <a:schemeClr val="dk1"/>
              </a:solidFill>
            </a:endParaRPr>
          </a:p>
          <a:p>
            <a:pPr indent="0" lvl="0" marL="0" rtl="0" algn="l">
              <a:spcBef>
                <a:spcPts val="0"/>
              </a:spcBef>
              <a:spcAft>
                <a:spcPts val="0"/>
              </a:spcAft>
              <a:buNone/>
            </a:pPr>
            <a:r>
              <a:rPr lang="en">
                <a:solidFill>
                  <a:schemeClr val="dk1"/>
                </a:solidFill>
              </a:rPr>
              <a:t>These add retransmission counts, TCP-flag summaries, packet-size bins, and ICMP/DNS info which will give a fuller picture of traffic behavior that was not captured in our previous feature selection process.</a:t>
            </a:r>
            <a:endParaRPr>
              <a:solidFill>
                <a:schemeClr val="dk1"/>
              </a:solidFill>
            </a:endParaRPr>
          </a:p>
          <a:p>
            <a:pPr indent="0" lvl="0" marL="0" rtl="0" algn="l">
              <a:spcBef>
                <a:spcPts val="0"/>
              </a:spcBef>
              <a:spcAft>
                <a:spcPts val="0"/>
              </a:spcAft>
              <a:buNone/>
            </a:pPr>
            <a:r>
              <a:rPr lang="en">
                <a:solidFill>
                  <a:schemeClr val="dk1"/>
                </a:solidFill>
              </a:rPr>
              <a:t>For the TTL based features, instead of removing it completely like done in the paper, we’ll test a transformed version representing TTL range or variance to keep clues for detecting spoofing attacks..</a:t>
            </a:r>
            <a:endParaRPr>
              <a:solidFill>
                <a:schemeClr val="dk1"/>
              </a:solidFill>
            </a:endParaRPr>
          </a:p>
          <a:p>
            <a:pPr indent="0" lvl="0" marL="0" rtl="0" algn="l">
              <a:spcBef>
                <a:spcPts val="0"/>
              </a:spcBef>
              <a:spcAft>
                <a:spcPts val="0"/>
              </a:spcAft>
              <a:buNone/>
            </a:pPr>
            <a:r>
              <a:rPr lang="en">
                <a:solidFill>
                  <a:schemeClr val="dk1"/>
                </a:solidFill>
              </a:rPr>
              <a:t>Finally, we’ll shift focus on attacks that are more detectable with just net-flow data, such as DoS and DDoS, and look into alternative hybrid approaches for attacks like SQL injection and cross site scripting whose detection heavily relies on payload data something that’s not captured in the netflow format.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8bf50f6d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8bf50f6d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paper relied only on Extra Trees, but we’ll test four models — Random Forest, XGBoost, SVM, and Logistic Regression — to see how different algorithms learn from the same flow data.</a:t>
            </a:r>
            <a:endParaRPr/>
          </a:p>
          <a:p>
            <a:pPr indent="0" lvl="0" marL="0" rtl="0" algn="l">
              <a:spcBef>
                <a:spcPts val="0"/>
              </a:spcBef>
              <a:spcAft>
                <a:spcPts val="0"/>
              </a:spcAft>
              <a:buClr>
                <a:schemeClr val="dk1"/>
              </a:buClr>
              <a:buSzPts val="1100"/>
              <a:buFont typeface="Arial"/>
              <a:buNone/>
            </a:pPr>
            <a:r>
              <a:rPr lang="en"/>
              <a:t>We’ll now add cross-time testing to see if accuracy holds when traffic patterns change and </a:t>
            </a:r>
            <a:r>
              <a:rPr lang="en">
                <a:solidFill>
                  <a:schemeClr val="dk1"/>
                </a:solidFill>
              </a:rPr>
              <a:t>use 5-fold cross-validation applied in this paper to catch overfitting as this was something that was one of our concerns after seeing the near perfect results which we showed during the mid term presentation.</a:t>
            </a:r>
            <a:endParaRPr/>
          </a:p>
          <a:p>
            <a:pPr indent="0" lvl="0" marL="0" rtl="0" algn="l">
              <a:spcBef>
                <a:spcPts val="0"/>
              </a:spcBef>
              <a:spcAft>
                <a:spcPts val="0"/>
              </a:spcAft>
              <a:buClr>
                <a:schemeClr val="dk1"/>
              </a:buClr>
              <a:buSzPts val="1100"/>
              <a:buFont typeface="Arial"/>
              <a:buNone/>
            </a:pPr>
            <a:r>
              <a:rPr lang="en"/>
              <a:t>We’ll also run adversarial tests by making small flow changes to check robustness of models in such scenarios and try to learn what we can do to protect against that.</a:t>
            </a:r>
            <a:endParaRPr/>
          </a:p>
          <a:p>
            <a:pPr indent="0" lvl="0" marL="0" rtl="0" algn="l">
              <a:spcBef>
                <a:spcPts val="0"/>
              </a:spcBef>
              <a:spcAft>
                <a:spcPts val="0"/>
              </a:spcAft>
              <a:buNone/>
            </a:pPr>
            <a:r>
              <a:rPr lang="en"/>
              <a:t>We also want to find more about how hybrid solutions can be implemented that may use models trained on netflow data with modules that also analyse the payload as we have now realised that just relying on netflow data is not a one stop solution to detecting an attack.</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98bf50f6d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98bf50f6d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evaluation will use the same metrics applied in the paper so we can compare results to it as well. </a:t>
            </a:r>
            <a:endParaRPr/>
          </a:p>
          <a:p>
            <a:pPr indent="0" lvl="0" marL="0" rtl="0" algn="l">
              <a:spcBef>
                <a:spcPts val="0"/>
              </a:spcBef>
              <a:spcAft>
                <a:spcPts val="0"/>
              </a:spcAft>
              <a:buNone/>
            </a:pPr>
            <a:r>
              <a:rPr lang="en"/>
              <a:t>(Accuracy, F1, AUC, Detection Rate, False Alarm Rate, and latency)</a:t>
            </a:r>
            <a:endParaRPr/>
          </a:p>
          <a:p>
            <a:pPr indent="0" lvl="0" marL="0" rtl="0" algn="l">
              <a:spcBef>
                <a:spcPts val="0"/>
              </a:spcBef>
              <a:spcAft>
                <a:spcPts val="0"/>
              </a:spcAft>
              <a:buNone/>
            </a:pPr>
            <a:r>
              <a:rPr lang="en">
                <a:solidFill>
                  <a:schemeClr val="dk1"/>
                </a:solidFill>
              </a:rPr>
              <a:t>We also plan to look into any standardized evaluation methods if they exist for NIDS research to make results easier to compare.</a:t>
            </a:r>
            <a:endParaRPr/>
          </a:p>
          <a:p>
            <a:pPr indent="0" lvl="0" marL="0" rtl="0" algn="l">
              <a:spcBef>
                <a:spcPts val="0"/>
              </a:spcBef>
              <a:spcAft>
                <a:spcPts val="0"/>
              </a:spcAft>
              <a:buNone/>
            </a:pPr>
            <a:r>
              <a:rPr lang="en"/>
              <a:t>Apart from the attack specific classifiers, we also saw in the paper they trained a binary classifier to detect general malicious flow, we want to test if this is something that can actually work in </a:t>
            </a:r>
            <a:r>
              <a:rPr lang="en"/>
              <a:t>realistic</a:t>
            </a:r>
            <a:r>
              <a:rPr lang="en"/>
              <a:t> attack </a:t>
            </a:r>
            <a:r>
              <a:rPr lang="en"/>
              <a:t>scenarios.</a:t>
            </a:r>
            <a:endParaRPr/>
          </a:p>
          <a:p>
            <a:pPr indent="0" lvl="0" marL="0" rtl="0" algn="l">
              <a:spcBef>
                <a:spcPts val="0"/>
              </a:spcBef>
              <a:spcAft>
                <a:spcPts val="0"/>
              </a:spcAft>
              <a:buNone/>
            </a:pPr>
            <a:r>
              <a:rPr lang="en"/>
              <a:t>Lastly, we’ll explore privacy-safe features such as TLS handshake metadata or payload entropy and also study how accuracy balances with latency.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fa0b7bde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9fa0b7bde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fa0b7bde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fa0b7bde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doi.org/10.1007/s11036-021-01843-0" TargetMode="External"/><Relationship Id="rId4" Type="http://schemas.openxmlformats.org/officeDocument/2006/relationships/hyperlink" Target="https://fkie-cad.github.io/COMIDDS/content/datasets/flnet2023/" TargetMode="External"/><Relationship Id="rId5" Type="http://schemas.openxmlformats.org/officeDocument/2006/relationships/hyperlink" Target="https://colab.research.google.com/drive/147fRUwBCbiSsKXKJA5A8Bp4HE6uIkvEA?usp=shar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963150"/>
            <a:ext cx="8520600" cy="3217200"/>
          </a:xfrm>
          <a:prstGeom prst="rect">
            <a:avLst/>
          </a:prstGeom>
        </p:spPr>
        <p:txBody>
          <a:bodyPr anchorCtr="0" anchor="b" bIns="91425" lIns="91425" spcFirstLastPara="1" rIns="91425" wrap="square" tIns="91425">
            <a:noAutofit/>
          </a:bodyPr>
          <a:lstStyle/>
          <a:p>
            <a:pPr indent="0" lvl="0" marL="0" rtl="0" algn="ctr">
              <a:lnSpc>
                <a:spcPct val="150000"/>
              </a:lnSpc>
              <a:spcBef>
                <a:spcPts val="0"/>
              </a:spcBef>
              <a:spcAft>
                <a:spcPts val="0"/>
              </a:spcAft>
              <a:buSzPts val="990"/>
              <a:buNone/>
            </a:pPr>
            <a:r>
              <a:rPr lang="en" sz="4180"/>
              <a:t>Case Study: </a:t>
            </a:r>
            <a:endParaRPr sz="4180"/>
          </a:p>
          <a:p>
            <a:pPr indent="0" lvl="0" marL="0" rtl="0" algn="ctr">
              <a:spcBef>
                <a:spcPts val="1000"/>
              </a:spcBef>
              <a:spcAft>
                <a:spcPts val="0"/>
              </a:spcAft>
              <a:buSzPts val="990"/>
              <a:buNone/>
            </a:pPr>
            <a:r>
              <a:rPr lang="en" sz="4180"/>
              <a:t>Towards a Standard Feature Set for Network Intrusion Detection System Datasets</a:t>
            </a:r>
            <a:endParaRPr sz="4180"/>
          </a:p>
          <a:p>
            <a:pPr indent="0" lvl="0" marL="0" rtl="0" algn="ctr">
              <a:spcBef>
                <a:spcPts val="0"/>
              </a:spcBef>
              <a:spcAft>
                <a:spcPts val="0"/>
              </a:spcAft>
              <a:buSzPts val="990"/>
              <a:buNone/>
            </a:pPr>
            <a:r>
              <a:t/>
            </a:r>
            <a:endParaRPr sz="1979"/>
          </a:p>
          <a:p>
            <a:pPr indent="0" lvl="0" marL="0" rtl="0" algn="ctr">
              <a:spcBef>
                <a:spcPts val="0"/>
              </a:spcBef>
              <a:spcAft>
                <a:spcPts val="0"/>
              </a:spcAft>
              <a:buSzPts val="990"/>
              <a:buNone/>
            </a:pPr>
            <a:r>
              <a:rPr lang="en" sz="1979"/>
              <a:t>Mohanad Sarhan , Siamak Layeghy , Marius Portmann</a:t>
            </a:r>
            <a:endParaRPr sz="1979"/>
          </a:p>
        </p:txBody>
      </p:sp>
      <p:sp>
        <p:nvSpPr>
          <p:cNvPr id="55" name="Google Shape;55;p13"/>
          <p:cNvSpPr txBox="1"/>
          <p:nvPr>
            <p:ph idx="1" type="subTitle"/>
          </p:nvPr>
        </p:nvSpPr>
        <p:spPr>
          <a:xfrm>
            <a:off x="0" y="4022775"/>
            <a:ext cx="5901000" cy="38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688"/>
              <a:buNone/>
            </a:pPr>
            <a:r>
              <a:rPr lang="en" sz="1250"/>
              <a:t>Presented by : </a:t>
            </a:r>
            <a:endParaRPr sz="1250"/>
          </a:p>
          <a:p>
            <a:pPr indent="0" lvl="0" marL="0" rtl="0" algn="l">
              <a:spcBef>
                <a:spcPts val="0"/>
              </a:spcBef>
              <a:spcAft>
                <a:spcPts val="0"/>
              </a:spcAft>
              <a:buSzPts val="688"/>
              <a:buNone/>
            </a:pPr>
            <a:r>
              <a:rPr lang="en" sz="1250"/>
              <a:t>Aryan Dandwekar</a:t>
            </a:r>
            <a:endParaRPr sz="1250"/>
          </a:p>
          <a:p>
            <a:pPr indent="0" lvl="0" marL="0" rtl="0" algn="l">
              <a:spcBef>
                <a:spcPts val="0"/>
              </a:spcBef>
              <a:spcAft>
                <a:spcPts val="0"/>
              </a:spcAft>
              <a:buSzPts val="688"/>
              <a:buNone/>
            </a:pPr>
            <a:r>
              <a:rPr lang="en" sz="1250"/>
              <a:t>Joao Lucas Veras</a:t>
            </a:r>
            <a:endParaRPr sz="1250"/>
          </a:p>
          <a:p>
            <a:pPr indent="0" lvl="0" marL="0" rtl="0" algn="l">
              <a:spcBef>
                <a:spcPts val="0"/>
              </a:spcBef>
              <a:spcAft>
                <a:spcPts val="0"/>
              </a:spcAft>
              <a:buClr>
                <a:schemeClr val="dk1"/>
              </a:buClr>
              <a:buSzPts val="688"/>
              <a:buFont typeface="Arial"/>
              <a:buNone/>
            </a:pPr>
            <a:r>
              <a:rPr lang="en" sz="1250"/>
              <a:t>Eshan Chawla</a:t>
            </a:r>
            <a:endParaRPr sz="1250"/>
          </a:p>
          <a:p>
            <a:pPr indent="0" lvl="0" marL="0" rtl="0" algn="l">
              <a:spcBef>
                <a:spcPts val="0"/>
              </a:spcBef>
              <a:spcAft>
                <a:spcPts val="0"/>
              </a:spcAft>
              <a:buSzPts val="688"/>
              <a:buNone/>
            </a:pPr>
            <a:r>
              <a:rPr lang="en" sz="1250"/>
              <a:t>Uday Arora</a:t>
            </a:r>
            <a:endParaRPr sz="1250"/>
          </a:p>
          <a:p>
            <a:pPr indent="0" lvl="0" marL="0" rtl="0" algn="l">
              <a:spcBef>
                <a:spcPts val="0"/>
              </a:spcBef>
              <a:spcAft>
                <a:spcPts val="0"/>
              </a:spcAft>
              <a:buSzPts val="688"/>
              <a:buNone/>
            </a:pPr>
            <a:r>
              <a:t/>
            </a:r>
            <a:endParaRPr sz="750"/>
          </a:p>
        </p:txBody>
      </p:sp>
      <p:sp>
        <p:nvSpPr>
          <p:cNvPr id="56" name="Google Shape;56;p13"/>
          <p:cNvSpPr txBox="1"/>
          <p:nvPr/>
        </p:nvSpPr>
        <p:spPr>
          <a:xfrm>
            <a:off x="6620100" y="0"/>
            <a:ext cx="2523900" cy="38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2"/>
                </a:solidFill>
                <a:latin typeface="Sora"/>
                <a:ea typeface="Sora"/>
                <a:cs typeface="Sora"/>
                <a:sym typeface="Sora"/>
              </a:rPr>
              <a:t>TEAM 5  - CMPE 257 sec-02</a:t>
            </a:r>
            <a:endParaRPr sz="1300">
              <a:solidFill>
                <a:schemeClr val="dk2"/>
              </a:solidFill>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Problem Statement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06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the Paper Addresses</a:t>
            </a:r>
            <a:endParaRPr/>
          </a:p>
        </p:txBody>
      </p:sp>
      <p:sp>
        <p:nvSpPr>
          <p:cNvPr id="67" name="Google Shape;67;p15"/>
          <p:cNvSpPr txBox="1"/>
          <p:nvPr>
            <p:ph idx="1" type="body"/>
          </p:nvPr>
        </p:nvSpPr>
        <p:spPr>
          <a:xfrm>
            <a:off x="138000" y="1152475"/>
            <a:ext cx="8819100" cy="35520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0"/>
              </a:spcBef>
              <a:spcAft>
                <a:spcPts val="0"/>
              </a:spcAft>
              <a:buSzPts val="2000"/>
              <a:buChar char="➔"/>
            </a:pPr>
            <a:r>
              <a:rPr lang="en" sz="2000"/>
              <a:t>NIDS datasets use inconsistent feature sets → poor generalization.</a:t>
            </a:r>
            <a:endParaRPr sz="2000"/>
          </a:p>
          <a:p>
            <a:pPr indent="-355600" lvl="0" marL="457200" rtl="0" algn="l">
              <a:lnSpc>
                <a:spcPct val="150000"/>
              </a:lnSpc>
              <a:spcBef>
                <a:spcPts val="1000"/>
              </a:spcBef>
              <a:spcAft>
                <a:spcPts val="0"/>
              </a:spcAft>
              <a:buSzPts val="2000"/>
              <a:buChar char="➔"/>
            </a:pPr>
            <a:r>
              <a:rPr lang="en" sz="2000"/>
              <a:t>Models memorize dataset patterns instead of learning attack behavior.</a:t>
            </a:r>
            <a:endParaRPr sz="2000"/>
          </a:p>
          <a:p>
            <a:pPr indent="-355600" lvl="0" marL="457200" rtl="0" algn="l">
              <a:lnSpc>
                <a:spcPct val="150000"/>
              </a:lnSpc>
              <a:spcBef>
                <a:spcPts val="1000"/>
              </a:spcBef>
              <a:spcAft>
                <a:spcPts val="0"/>
              </a:spcAft>
              <a:buSzPts val="2000"/>
              <a:buChar char="➔"/>
            </a:pPr>
            <a:r>
              <a:rPr lang="en" sz="2000"/>
              <a:t>Results in unfair benchmarking and low reproducibility.</a:t>
            </a:r>
            <a:endParaRPr sz="2000"/>
          </a:p>
          <a:p>
            <a:pPr indent="-355600" lvl="0" marL="457200" rtl="0" algn="l">
              <a:lnSpc>
                <a:spcPct val="150000"/>
              </a:lnSpc>
              <a:spcBef>
                <a:spcPts val="1000"/>
              </a:spcBef>
              <a:spcAft>
                <a:spcPts val="0"/>
              </a:spcAft>
              <a:buSzPts val="2000"/>
              <a:buChar char="➔"/>
            </a:pPr>
            <a:r>
              <a:rPr lang="en" sz="2000"/>
              <a:t>Paper proposes a 43-feature standardized NetFlow v9 set.</a:t>
            </a:r>
            <a:endParaRPr sz="2000"/>
          </a:p>
          <a:p>
            <a:pPr indent="-355600" lvl="0" marL="457200" rtl="0" algn="l">
              <a:lnSpc>
                <a:spcPct val="150000"/>
              </a:lnSpc>
              <a:spcBef>
                <a:spcPts val="1000"/>
              </a:spcBef>
              <a:spcAft>
                <a:spcPts val="1000"/>
              </a:spcAft>
              <a:buSzPts val="2000"/>
              <a:buChar char="➔"/>
            </a:pPr>
            <a:r>
              <a:rPr lang="en" sz="2000"/>
              <a:t>Goal: enable reliable, deployable ML-based IDS evaluation.</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06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How It Connects to Our Project</a:t>
            </a:r>
            <a:endParaRPr/>
          </a:p>
        </p:txBody>
      </p:sp>
      <p:sp>
        <p:nvSpPr>
          <p:cNvPr id="73" name="Google Shape;73;p16"/>
          <p:cNvSpPr txBox="1"/>
          <p:nvPr>
            <p:ph idx="1" type="body"/>
          </p:nvPr>
        </p:nvSpPr>
        <p:spPr>
          <a:xfrm>
            <a:off x="138000" y="1152475"/>
            <a:ext cx="8819100" cy="35520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0"/>
              </a:spcBef>
              <a:spcAft>
                <a:spcPts val="0"/>
              </a:spcAft>
              <a:buSzPts val="2000"/>
              <a:buChar char="➔"/>
            </a:pPr>
            <a:r>
              <a:rPr lang="en" sz="2000"/>
              <a:t>Our FLNet dataset has 82 flow-level features, similar to NetFlow v9.</a:t>
            </a:r>
            <a:endParaRPr sz="2000"/>
          </a:p>
          <a:p>
            <a:pPr indent="-355600" lvl="0" marL="457200" rtl="0" algn="l">
              <a:lnSpc>
                <a:spcPct val="150000"/>
              </a:lnSpc>
              <a:spcBef>
                <a:spcPts val="1000"/>
              </a:spcBef>
              <a:spcAft>
                <a:spcPts val="0"/>
              </a:spcAft>
              <a:buSzPts val="2000"/>
              <a:buChar char="➔"/>
            </a:pPr>
            <a:r>
              <a:rPr lang="en" sz="2000"/>
              <a:t>Paper standardizes features to improve NIDS dataset consistency.</a:t>
            </a:r>
            <a:endParaRPr sz="2000"/>
          </a:p>
          <a:p>
            <a:pPr indent="-355600" lvl="0" marL="457200" rtl="0" algn="l">
              <a:lnSpc>
                <a:spcPct val="150000"/>
              </a:lnSpc>
              <a:spcBef>
                <a:spcPts val="1000"/>
              </a:spcBef>
              <a:spcAft>
                <a:spcPts val="0"/>
              </a:spcAft>
              <a:buSzPts val="2000"/>
              <a:buChar char="➔"/>
            </a:pPr>
            <a:r>
              <a:rPr lang="en" sz="2000"/>
              <a:t>Inspired our feature-cleaning and selection process.</a:t>
            </a:r>
            <a:endParaRPr sz="2000"/>
          </a:p>
          <a:p>
            <a:pPr indent="-355600" lvl="0" marL="457200" rtl="0" algn="l">
              <a:lnSpc>
                <a:spcPct val="150000"/>
              </a:lnSpc>
              <a:spcBef>
                <a:spcPts val="1000"/>
              </a:spcBef>
              <a:spcAft>
                <a:spcPts val="0"/>
              </a:spcAft>
              <a:buSzPts val="2000"/>
              <a:buChar char="➔"/>
            </a:pPr>
            <a:r>
              <a:rPr lang="en" sz="2000"/>
              <a:t>Helped us handle redundancy and leakage effectively.</a:t>
            </a:r>
            <a:endParaRPr sz="2000"/>
          </a:p>
          <a:p>
            <a:pPr indent="-355600" lvl="0" marL="457200" rtl="0" algn="l">
              <a:lnSpc>
                <a:spcPct val="150000"/>
              </a:lnSpc>
              <a:spcBef>
                <a:spcPts val="1000"/>
              </a:spcBef>
              <a:spcAft>
                <a:spcPts val="1000"/>
              </a:spcAft>
              <a:buSzPts val="2000"/>
              <a:buChar char="➔"/>
            </a:pPr>
            <a:r>
              <a:rPr lang="en" sz="2000"/>
              <a:t>Connects dataset design to ML model reliability.</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Proposed Solution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181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Proposed Solution</a:t>
            </a:r>
            <a:endParaRPr/>
          </a:p>
        </p:txBody>
      </p:sp>
      <p:sp>
        <p:nvSpPr>
          <p:cNvPr id="84" name="Google Shape;84;p18"/>
          <p:cNvSpPr txBox="1"/>
          <p:nvPr>
            <p:ph idx="1" type="body"/>
          </p:nvPr>
        </p:nvSpPr>
        <p:spPr>
          <a:xfrm>
            <a:off x="311700" y="840525"/>
            <a:ext cx="8520600" cy="4202700"/>
          </a:xfrm>
          <a:prstGeom prst="rect">
            <a:avLst/>
          </a:prstGeom>
        </p:spPr>
        <p:txBody>
          <a:bodyPr anchorCtr="0" anchor="t" bIns="91425" lIns="91425" spcFirstLastPara="1" rIns="91425" wrap="square" tIns="91425">
            <a:normAutofit/>
          </a:bodyPr>
          <a:lstStyle/>
          <a:p>
            <a:pPr indent="-336550" lvl="0" marL="457200" rtl="0" algn="l">
              <a:lnSpc>
                <a:spcPct val="150000"/>
              </a:lnSpc>
              <a:spcBef>
                <a:spcPts val="0"/>
              </a:spcBef>
              <a:spcAft>
                <a:spcPts val="0"/>
              </a:spcAft>
              <a:buSzPts val="1700"/>
              <a:buChar char="●"/>
            </a:pPr>
            <a:r>
              <a:rPr lang="en" sz="1700"/>
              <a:t>Core Idea</a:t>
            </a:r>
            <a:endParaRPr sz="1700"/>
          </a:p>
          <a:p>
            <a:pPr indent="-317500" lvl="1" marL="914400" rtl="0" algn="l">
              <a:lnSpc>
                <a:spcPct val="150000"/>
              </a:lnSpc>
              <a:spcBef>
                <a:spcPts val="0"/>
              </a:spcBef>
              <a:spcAft>
                <a:spcPts val="0"/>
              </a:spcAft>
              <a:buSzPts val="1400"/>
              <a:buChar char="○"/>
            </a:pPr>
            <a:r>
              <a:rPr lang="en"/>
              <a:t>Propose a standard feature set for NIDS datasets based on the NetFlow network meta-data collection protocol and systems</a:t>
            </a:r>
            <a:endParaRPr/>
          </a:p>
          <a:p>
            <a:pPr indent="-342900" lvl="0" marL="457200" rtl="0" algn="l">
              <a:lnSpc>
                <a:spcPct val="150000"/>
              </a:lnSpc>
              <a:spcBef>
                <a:spcPts val="0"/>
              </a:spcBef>
              <a:spcAft>
                <a:spcPts val="0"/>
              </a:spcAft>
              <a:buSzPts val="1800"/>
              <a:buChar char="●"/>
            </a:pPr>
            <a:r>
              <a:rPr lang="en"/>
              <a:t>Why NetFlow</a:t>
            </a:r>
            <a:endParaRPr/>
          </a:p>
          <a:p>
            <a:pPr indent="-317500" lvl="1" marL="914400" rtl="0" algn="l">
              <a:lnSpc>
                <a:spcPct val="150000"/>
              </a:lnSpc>
              <a:spcBef>
                <a:spcPts val="0"/>
              </a:spcBef>
              <a:spcAft>
                <a:spcPts val="0"/>
              </a:spcAft>
              <a:buSzPts val="1400"/>
              <a:buChar char="○"/>
            </a:pPr>
            <a:r>
              <a:rPr lang="en"/>
              <a:t>NetFlow is a de-facto industry standard for traffic collection and analysis</a:t>
            </a:r>
            <a:endParaRPr/>
          </a:p>
          <a:p>
            <a:pPr indent="-342900" lvl="0" marL="457200" rtl="0" algn="l">
              <a:lnSpc>
                <a:spcPct val="150000"/>
              </a:lnSpc>
              <a:spcBef>
                <a:spcPts val="0"/>
              </a:spcBef>
              <a:spcAft>
                <a:spcPts val="0"/>
              </a:spcAft>
              <a:buSzPts val="1800"/>
              <a:buChar char="●"/>
            </a:pPr>
            <a:r>
              <a:rPr lang="en"/>
              <a:t>Key Advantages</a:t>
            </a:r>
            <a:endParaRPr/>
          </a:p>
          <a:p>
            <a:pPr indent="-317500" lvl="1" marL="914400" rtl="0" algn="l">
              <a:lnSpc>
                <a:spcPct val="150000"/>
              </a:lnSpc>
              <a:spcBef>
                <a:spcPts val="0"/>
              </a:spcBef>
              <a:spcAft>
                <a:spcPts val="0"/>
              </a:spcAft>
              <a:buSzPts val="1400"/>
              <a:buChar char="○"/>
            </a:pPr>
            <a:r>
              <a:rPr lang="en"/>
              <a:t>Features are highly practical and scalable for deployment</a:t>
            </a:r>
            <a:endParaRPr/>
          </a:p>
          <a:p>
            <a:pPr indent="-317500" lvl="1" marL="914400" rtl="0" algn="l">
              <a:lnSpc>
                <a:spcPct val="150000"/>
              </a:lnSpc>
              <a:spcBef>
                <a:spcPts val="0"/>
              </a:spcBef>
              <a:spcAft>
                <a:spcPts val="0"/>
              </a:spcAft>
              <a:buSzPts val="1400"/>
              <a:buChar char="○"/>
            </a:pPr>
            <a:r>
              <a:rPr lang="en"/>
              <a:t>Features are flow-based and extracted from packet headers</a:t>
            </a:r>
            <a:endParaRPr/>
          </a:p>
          <a:p>
            <a:pPr indent="-342900" lvl="0" marL="457200" rtl="0" algn="l">
              <a:lnSpc>
                <a:spcPct val="150000"/>
              </a:lnSpc>
              <a:spcBef>
                <a:spcPts val="0"/>
              </a:spcBef>
              <a:spcAft>
                <a:spcPts val="0"/>
              </a:spcAft>
              <a:buSzPts val="1800"/>
              <a:buChar char="●"/>
            </a:pPr>
            <a:r>
              <a:rPr lang="en"/>
              <a:t>Variants of Features</a:t>
            </a:r>
            <a:endParaRPr/>
          </a:p>
          <a:p>
            <a:pPr indent="-317500" lvl="1" marL="914400" rtl="0" algn="l">
              <a:lnSpc>
                <a:spcPct val="150000"/>
              </a:lnSpc>
              <a:spcBef>
                <a:spcPts val="0"/>
              </a:spcBef>
              <a:spcAft>
                <a:spcPts val="0"/>
              </a:spcAft>
              <a:buSzPts val="1400"/>
              <a:buChar char="○"/>
            </a:pPr>
            <a:r>
              <a:rPr lang="en"/>
              <a:t>Basic 12 features</a:t>
            </a:r>
            <a:endParaRPr/>
          </a:p>
          <a:p>
            <a:pPr indent="-317500" lvl="1" marL="914400" rtl="0" algn="l">
              <a:lnSpc>
                <a:spcPct val="150000"/>
              </a:lnSpc>
              <a:spcBef>
                <a:spcPts val="0"/>
              </a:spcBef>
              <a:spcAft>
                <a:spcPts val="0"/>
              </a:spcAft>
              <a:buSzPts val="1400"/>
              <a:buChar char="○"/>
            </a:pPr>
            <a:r>
              <a:rPr lang="en"/>
              <a:t>Proposed Standard 43 features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NIDS</a:t>
            </a:r>
            <a:r>
              <a:rPr lang="en"/>
              <a:t> Features</a:t>
            </a:r>
            <a:endParaRPr/>
          </a:p>
        </p:txBody>
      </p:sp>
      <p:pic>
        <p:nvPicPr>
          <p:cNvPr id="90" name="Google Shape;90;p19"/>
          <p:cNvPicPr preferRelativeResize="0"/>
          <p:nvPr/>
        </p:nvPicPr>
        <p:blipFill>
          <a:blip r:embed="rId3">
            <a:alphaModFix/>
          </a:blip>
          <a:stretch>
            <a:fillRect/>
          </a:stretch>
        </p:blipFill>
        <p:spPr>
          <a:xfrm>
            <a:off x="100350" y="842600"/>
            <a:ext cx="3057325" cy="4142725"/>
          </a:xfrm>
          <a:prstGeom prst="rect">
            <a:avLst/>
          </a:prstGeom>
          <a:noFill/>
          <a:ln>
            <a:noFill/>
          </a:ln>
        </p:spPr>
      </p:pic>
      <p:pic>
        <p:nvPicPr>
          <p:cNvPr id="91" name="Google Shape;91;p19"/>
          <p:cNvPicPr preferRelativeResize="0"/>
          <p:nvPr/>
        </p:nvPicPr>
        <p:blipFill>
          <a:blip r:embed="rId4">
            <a:alphaModFix/>
          </a:blip>
          <a:stretch>
            <a:fillRect/>
          </a:stretch>
        </p:blipFill>
        <p:spPr>
          <a:xfrm>
            <a:off x="3397500" y="1367425"/>
            <a:ext cx="2886924" cy="3326951"/>
          </a:xfrm>
          <a:prstGeom prst="rect">
            <a:avLst/>
          </a:prstGeom>
          <a:noFill/>
          <a:ln>
            <a:noFill/>
          </a:ln>
        </p:spPr>
      </p:pic>
      <p:pic>
        <p:nvPicPr>
          <p:cNvPr id="92" name="Google Shape;92;p19"/>
          <p:cNvPicPr preferRelativeResize="0"/>
          <p:nvPr/>
        </p:nvPicPr>
        <p:blipFill>
          <a:blip r:embed="rId5">
            <a:alphaModFix/>
          </a:blip>
          <a:stretch>
            <a:fillRect/>
          </a:stretch>
        </p:blipFill>
        <p:spPr>
          <a:xfrm>
            <a:off x="6372725" y="1175109"/>
            <a:ext cx="2771276" cy="1674116"/>
          </a:xfrm>
          <a:prstGeom prst="rect">
            <a:avLst/>
          </a:prstGeom>
          <a:noFill/>
          <a:ln>
            <a:noFill/>
          </a:ln>
        </p:spPr>
      </p:pic>
      <p:pic>
        <p:nvPicPr>
          <p:cNvPr id="93" name="Google Shape;93;p19"/>
          <p:cNvPicPr preferRelativeResize="0"/>
          <p:nvPr/>
        </p:nvPicPr>
        <p:blipFill>
          <a:blip r:embed="rId6">
            <a:alphaModFix/>
          </a:blip>
          <a:stretch>
            <a:fillRect/>
          </a:stretch>
        </p:blipFill>
        <p:spPr>
          <a:xfrm>
            <a:off x="3373150" y="1098378"/>
            <a:ext cx="2886925" cy="2690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New Dataset Generation</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Utilized the publicly available packet capture files from four widely-used NIDS datasets</a:t>
            </a:r>
            <a:endParaRPr/>
          </a:p>
          <a:p>
            <a:pPr indent="-317500" lvl="1" marL="914400" rtl="0" algn="l">
              <a:spcBef>
                <a:spcPts val="0"/>
              </a:spcBef>
              <a:spcAft>
                <a:spcPts val="0"/>
              </a:spcAft>
              <a:buSzPts val="1400"/>
              <a:buChar char="○"/>
            </a:pPr>
            <a:r>
              <a:rPr lang="en"/>
              <a:t>UNSW-NB15, BoT-IoT, TON-IoT, CSE-CIC-IDS2018</a:t>
            </a:r>
            <a:endParaRPr/>
          </a:p>
          <a:p>
            <a:pPr indent="-342900" lvl="0" marL="457200" rtl="0" algn="l">
              <a:spcBef>
                <a:spcPts val="0"/>
              </a:spcBef>
              <a:spcAft>
                <a:spcPts val="0"/>
              </a:spcAft>
              <a:buSzPts val="1800"/>
              <a:buChar char="●"/>
            </a:pPr>
            <a:r>
              <a:rPr lang="en"/>
              <a:t>Extracted using the nProbe tool by Ntop</a:t>
            </a:r>
            <a:endParaRPr/>
          </a:p>
          <a:p>
            <a:pPr indent="-317500" lvl="1" marL="914400" rtl="0" algn="l">
              <a:spcBef>
                <a:spcPts val="0"/>
              </a:spcBef>
              <a:spcAft>
                <a:spcPts val="0"/>
              </a:spcAft>
              <a:buSzPts val="1400"/>
              <a:buChar char="○"/>
            </a:pPr>
            <a:r>
              <a:rPr lang="en"/>
              <a:t>Extracted the 43 NetFlow version 9 features</a:t>
            </a:r>
            <a:endParaRPr/>
          </a:p>
          <a:p>
            <a:pPr indent="-342900" lvl="0" marL="457200" rtl="0" algn="l">
              <a:spcBef>
                <a:spcPts val="0"/>
              </a:spcBef>
              <a:spcAft>
                <a:spcPts val="0"/>
              </a:spcAft>
              <a:buSzPts val="1800"/>
              <a:buChar char="●"/>
            </a:pPr>
            <a:r>
              <a:rPr lang="en"/>
              <a:t>Convert the original datasets into new variants utilizing the 43 proposed features</a:t>
            </a:r>
            <a:endParaRPr/>
          </a:p>
          <a:p>
            <a:pPr indent="-317500" lvl="1" marL="914400" rtl="0" algn="l">
              <a:spcBef>
                <a:spcPts val="0"/>
              </a:spcBef>
              <a:spcAft>
                <a:spcPts val="0"/>
              </a:spcAft>
              <a:buSzPts val="1400"/>
              <a:buChar char="○"/>
            </a:pPr>
            <a:r>
              <a:rPr lang="en"/>
              <a:t>NF-v2 datasets</a:t>
            </a:r>
            <a:endParaRPr/>
          </a:p>
          <a:p>
            <a:pPr indent="-342900" lvl="0" marL="457200" rtl="0" algn="l">
              <a:spcBef>
                <a:spcPts val="0"/>
              </a:spcBef>
              <a:spcAft>
                <a:spcPts val="0"/>
              </a:spcAft>
              <a:buSzPts val="1800"/>
              <a:buChar char="●"/>
            </a:pPr>
            <a:r>
              <a:rPr lang="en"/>
              <a:t>All the new datasets share the same standard features</a:t>
            </a:r>
            <a:endParaRPr/>
          </a:p>
          <a:p>
            <a:pPr indent="-342900" lvl="0" marL="457200" rtl="0" algn="l">
              <a:spcBef>
                <a:spcPts val="0"/>
              </a:spcBef>
              <a:spcAft>
                <a:spcPts val="0"/>
              </a:spcAft>
              <a:buSzPts val="1800"/>
              <a:buChar char="●"/>
            </a:pPr>
            <a:r>
              <a:rPr lang="en"/>
              <a:t>Allows for all datasets to be merged into a comprehensive dataset</a:t>
            </a:r>
            <a:endParaRPr/>
          </a:p>
          <a:p>
            <a:pPr indent="-317500" lvl="1" marL="914400" rtl="0" algn="l">
              <a:spcBef>
                <a:spcPts val="0"/>
              </a:spcBef>
              <a:spcAft>
                <a:spcPts val="0"/>
              </a:spcAft>
              <a:buSzPts val="1400"/>
              <a:buChar char="○"/>
            </a:pPr>
            <a:r>
              <a:rPr lang="en"/>
              <a:t>Displays the power of having a standard feature set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Evaluation of Applied Techniques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Results and observations</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chemeClr val="dk1"/>
              </a:buClr>
              <a:buSzPts val="1800"/>
              <a:buChar char="●"/>
            </a:pPr>
            <a:r>
              <a:rPr lang="en">
                <a:solidFill>
                  <a:schemeClr val="dk1"/>
                </a:solidFill>
              </a:rPr>
              <a:t>Tested binary (attack/benign) &amp; multi-class (attack types).</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Used Extra Trees Classifier + 5-fold cross-validation.</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Compared 3 setups: Original, Basic (12), and Extended (43) features.</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Metrics: Accuracy, AUC, F1, DR, FAR, Prediction Time.</a:t>
            </a:r>
            <a:endParaRPr>
              <a:solidFill>
                <a:schemeClr val="dk1"/>
              </a:solidFill>
            </a:endParaRPr>
          </a:p>
          <a:p>
            <a:pPr indent="0" lvl="0" marL="457200" rtl="0" algn="l">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Found highest performance with 43 NetFlow features.</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Evaluation</a:t>
            </a:r>
            <a:endParaRPr/>
          </a:p>
        </p:txBody>
      </p:sp>
      <p:sp>
        <p:nvSpPr>
          <p:cNvPr id="116" name="Google Shape;116;p23"/>
          <p:cNvSpPr txBox="1"/>
          <p:nvPr>
            <p:ph idx="1" type="body"/>
          </p:nvPr>
        </p:nvSpPr>
        <p:spPr>
          <a:xfrm>
            <a:off x="5260936" y="3878830"/>
            <a:ext cx="3646200" cy="667200"/>
          </a:xfrm>
          <a:prstGeom prst="rect">
            <a:avLst/>
          </a:prstGeom>
        </p:spPr>
        <p:txBody>
          <a:bodyPr anchorCtr="0" anchor="t" bIns="96850" lIns="96850" spcFirstLastPara="1" rIns="96850" wrap="square" tIns="96850">
            <a:normAutofit/>
          </a:bodyPr>
          <a:lstStyle/>
          <a:p>
            <a:pPr indent="0" lvl="0" marL="484278" rtl="0" algn="l">
              <a:spcBef>
                <a:spcPts val="0"/>
              </a:spcBef>
              <a:spcAft>
                <a:spcPts val="1271"/>
              </a:spcAft>
              <a:buNone/>
            </a:pPr>
            <a:r>
              <a:rPr lang="en" sz="1906"/>
              <a:t>Binary Classifier </a:t>
            </a:r>
            <a:endParaRPr sz="1906"/>
          </a:p>
        </p:txBody>
      </p:sp>
      <p:pic>
        <p:nvPicPr>
          <p:cNvPr id="117" name="Google Shape;117;p23"/>
          <p:cNvPicPr preferRelativeResize="0"/>
          <p:nvPr/>
        </p:nvPicPr>
        <p:blipFill>
          <a:blip r:embed="rId3">
            <a:alphaModFix/>
          </a:blip>
          <a:stretch>
            <a:fillRect/>
          </a:stretch>
        </p:blipFill>
        <p:spPr>
          <a:xfrm>
            <a:off x="4492386" y="1348600"/>
            <a:ext cx="4521075" cy="2240346"/>
          </a:xfrm>
          <a:prstGeom prst="rect">
            <a:avLst/>
          </a:prstGeom>
          <a:noFill/>
          <a:ln>
            <a:noFill/>
          </a:ln>
        </p:spPr>
      </p:pic>
      <p:pic>
        <p:nvPicPr>
          <p:cNvPr id="118" name="Google Shape;118;p23"/>
          <p:cNvPicPr preferRelativeResize="0"/>
          <p:nvPr/>
        </p:nvPicPr>
        <p:blipFill>
          <a:blip r:embed="rId4">
            <a:alphaModFix/>
          </a:blip>
          <a:stretch>
            <a:fillRect/>
          </a:stretch>
        </p:blipFill>
        <p:spPr>
          <a:xfrm>
            <a:off x="130538" y="1357557"/>
            <a:ext cx="4361844" cy="2161453"/>
          </a:xfrm>
          <a:prstGeom prst="rect">
            <a:avLst/>
          </a:prstGeom>
          <a:noFill/>
          <a:ln>
            <a:noFill/>
          </a:ln>
        </p:spPr>
      </p:pic>
      <p:sp>
        <p:nvSpPr>
          <p:cNvPr id="119" name="Google Shape;119;p23"/>
          <p:cNvSpPr txBox="1"/>
          <p:nvPr>
            <p:ph idx="1" type="body"/>
          </p:nvPr>
        </p:nvSpPr>
        <p:spPr>
          <a:xfrm>
            <a:off x="592335" y="3878830"/>
            <a:ext cx="3646200" cy="667200"/>
          </a:xfrm>
          <a:prstGeom prst="rect">
            <a:avLst/>
          </a:prstGeom>
        </p:spPr>
        <p:txBody>
          <a:bodyPr anchorCtr="0" anchor="t" bIns="96850" lIns="96850" spcFirstLastPara="1" rIns="96850" wrap="square" tIns="96850">
            <a:normAutofit/>
          </a:bodyPr>
          <a:lstStyle/>
          <a:p>
            <a:pPr indent="0" lvl="0" marL="484278" rtl="0" algn="l">
              <a:spcBef>
                <a:spcPts val="0"/>
              </a:spcBef>
              <a:spcAft>
                <a:spcPts val="1271"/>
              </a:spcAft>
              <a:buNone/>
            </a:pPr>
            <a:r>
              <a:rPr lang="en" sz="1906"/>
              <a:t>Multi Class Classifier</a:t>
            </a:r>
            <a:endParaRPr sz="1906"/>
          </a:p>
        </p:txBody>
      </p:sp>
      <p:sp>
        <p:nvSpPr>
          <p:cNvPr id="120" name="Google Shape;120;p23"/>
          <p:cNvSpPr txBox="1"/>
          <p:nvPr/>
        </p:nvSpPr>
        <p:spPr>
          <a:xfrm>
            <a:off x="1082122" y="4031041"/>
            <a:ext cx="6735300" cy="515100"/>
          </a:xfrm>
          <a:prstGeom prst="rect">
            <a:avLst/>
          </a:prstGeom>
          <a:noFill/>
          <a:ln>
            <a:noFill/>
          </a:ln>
        </p:spPr>
        <p:txBody>
          <a:bodyPr anchorCtr="0" anchor="t" bIns="96850" lIns="96850" spcFirstLastPara="1" rIns="96850" wrap="square" tIns="96850">
            <a:noAutofit/>
          </a:bodyPr>
          <a:lstStyle/>
          <a:p>
            <a:pPr indent="0" lvl="0" marL="0" rtl="0" algn="l">
              <a:spcBef>
                <a:spcPts val="0"/>
              </a:spcBef>
              <a:spcAft>
                <a:spcPts val="0"/>
              </a:spcAft>
              <a:buNone/>
            </a:pPr>
            <a:r>
              <a:t/>
            </a:r>
            <a:endParaRPr sz="1906">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Results and observations</a:t>
            </a:r>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Average F1 improved by 5–10%.</a:t>
            </a:r>
            <a:endParaRPr>
              <a:solidFill>
                <a:schemeClr val="dk1"/>
              </a:solidFill>
            </a:endParaRPr>
          </a:p>
          <a:p>
            <a:pPr indent="0" lvl="0" marL="457200" rtl="0" algn="l">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Multi-class F1: 0.79 → 0.97 (merged dataset).</a:t>
            </a:r>
            <a:endParaRPr>
              <a:solidFill>
                <a:schemeClr val="dk1"/>
              </a:solidFill>
            </a:endParaRPr>
          </a:p>
          <a:p>
            <a:pPr indent="0" lvl="0" marL="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Weak detection on Infiltration, MITM, SQL Injection.</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No cross-dataset validation → limited proof of generalization.</a:t>
            </a:r>
            <a:endParaRPr>
              <a:solidFill>
                <a:schemeClr val="dk1"/>
              </a:solidFill>
            </a:endParaRPr>
          </a:p>
          <a:p>
            <a:pPr indent="0" lvl="0" marL="0" marR="0" rtl="0" algn="l">
              <a:lnSpc>
                <a:spcPct val="115000"/>
              </a:lnSpc>
              <a:spcBef>
                <a:spcPts val="0"/>
              </a:spcBef>
              <a:spcAft>
                <a:spcPts val="0"/>
              </a:spcAft>
              <a:buNone/>
            </a:pPr>
            <a:r>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Lower prediction latency (up to 50% faster).</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Learnings </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chemeClr val="dk1"/>
              </a:buClr>
              <a:buSzPts val="1800"/>
              <a:buChar char="●"/>
            </a:pPr>
            <a:r>
              <a:rPr lang="en">
                <a:solidFill>
                  <a:schemeClr val="dk1"/>
                </a:solidFill>
              </a:rPr>
              <a:t>Adopt their binary + multi-class structure for fairness.</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Add cross-time validation to simulate unseen traﬃc.</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Introduce feature-importance (SHAP/PCA) analysis.</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Compare standardized vs attack-specific feature sets.</a:t>
            </a:r>
            <a:endParaRPr>
              <a:solidFill>
                <a:schemeClr val="dk1"/>
              </a:solidFill>
            </a:endParaRPr>
          </a:p>
          <a:p>
            <a:pPr indent="0" lvl="0" marL="457200" marR="0" rtl="0" algn="l">
              <a:lnSpc>
                <a:spcPct val="115000"/>
              </a:lnSpc>
              <a:spcBef>
                <a:spcPts val="0"/>
              </a:spcBef>
              <a:spcAft>
                <a:spcPts val="0"/>
              </a:spcAft>
              <a:buNone/>
            </a:pPr>
            <a:r>
              <a:t/>
            </a:r>
            <a:endParaRPr>
              <a:solidFill>
                <a:schemeClr val="dk1"/>
              </a:solidFill>
            </a:endParaRPr>
          </a:p>
          <a:p>
            <a:pPr indent="-342900" lvl="0" marL="457200" marR="0" rtl="0" algn="l">
              <a:lnSpc>
                <a:spcPct val="115000"/>
              </a:lnSpc>
              <a:spcBef>
                <a:spcPts val="0"/>
              </a:spcBef>
              <a:spcAft>
                <a:spcPts val="0"/>
              </a:spcAft>
              <a:buClr>
                <a:schemeClr val="dk1"/>
              </a:buClr>
              <a:buSzPts val="1800"/>
              <a:buChar char="●"/>
            </a:pPr>
            <a:r>
              <a:rPr lang="en">
                <a:solidFill>
                  <a:schemeClr val="dk1"/>
                </a:solidFill>
              </a:rPr>
              <a:t>Track latency &amp; accuracy for real-time feasibility.</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Group Suggestions or Adaptations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Improving Feature Design and Dataset Use</a:t>
            </a:r>
            <a:endParaRPr/>
          </a:p>
        </p:txBody>
      </p:sp>
      <p:sp>
        <p:nvSpPr>
          <p:cNvPr id="143" name="Google Shape;143;p27"/>
          <p:cNvSpPr txBox="1"/>
          <p:nvPr>
            <p:ph idx="1" type="body"/>
          </p:nvPr>
        </p:nvSpPr>
        <p:spPr>
          <a:xfrm>
            <a:off x="138000" y="953425"/>
            <a:ext cx="8819100" cy="4039500"/>
          </a:xfrm>
          <a:prstGeom prst="rect">
            <a:avLst/>
          </a:prstGeom>
        </p:spPr>
        <p:txBody>
          <a:bodyPr anchorCtr="0" anchor="t" bIns="91425" lIns="91425" spcFirstLastPara="1" rIns="91425" wrap="square" tIns="91425">
            <a:normAutofit fontScale="92500" lnSpcReduction="20000"/>
          </a:bodyPr>
          <a:lstStyle/>
          <a:p>
            <a:pPr indent="-346075" lvl="0" marL="457200" rtl="0" algn="l">
              <a:lnSpc>
                <a:spcPct val="200000"/>
              </a:lnSpc>
              <a:spcBef>
                <a:spcPts val="0"/>
              </a:spcBef>
              <a:spcAft>
                <a:spcPts val="0"/>
              </a:spcAft>
              <a:buSzPct val="100000"/>
              <a:buChar char="➔"/>
            </a:pPr>
            <a:r>
              <a:rPr lang="en" sz="2000"/>
              <a:t>Adopt 43 NetFlow features → add retransmission, TCP flags, packet-size bins, DNS/ICMP.</a:t>
            </a:r>
            <a:endParaRPr sz="2000"/>
          </a:p>
          <a:p>
            <a:pPr indent="-346075" lvl="0" marL="457200" rtl="0" algn="l">
              <a:lnSpc>
                <a:spcPct val="200000"/>
              </a:lnSpc>
              <a:spcBef>
                <a:spcPts val="1000"/>
              </a:spcBef>
              <a:spcAft>
                <a:spcPts val="0"/>
              </a:spcAft>
              <a:buSzPct val="100000"/>
              <a:buChar char="➔"/>
            </a:pPr>
            <a:r>
              <a:rPr lang="en" sz="2000"/>
              <a:t>Use merged NF-UQ-NIDS dataset for broader training and testing.</a:t>
            </a:r>
            <a:endParaRPr sz="2000"/>
          </a:p>
          <a:p>
            <a:pPr indent="-346075" lvl="0" marL="457200" rtl="0" algn="l">
              <a:lnSpc>
                <a:spcPct val="200000"/>
              </a:lnSpc>
              <a:spcBef>
                <a:spcPts val="1000"/>
              </a:spcBef>
              <a:spcAft>
                <a:spcPts val="0"/>
              </a:spcAft>
              <a:buSzPct val="100000"/>
              <a:buChar char="➔"/>
            </a:pPr>
            <a:r>
              <a:rPr lang="en" sz="2000"/>
              <a:t>Revisit TTL: test drop vs transform (range/variance) to avoid leakage.</a:t>
            </a:r>
            <a:endParaRPr sz="2000"/>
          </a:p>
          <a:p>
            <a:pPr indent="-346075" lvl="0" marL="457200" rtl="0" algn="l">
              <a:lnSpc>
                <a:spcPct val="200000"/>
              </a:lnSpc>
              <a:spcBef>
                <a:spcPts val="1000"/>
              </a:spcBef>
              <a:spcAft>
                <a:spcPts val="0"/>
              </a:spcAft>
              <a:buSzPct val="100000"/>
              <a:buChar char="➔"/>
            </a:pPr>
            <a:r>
              <a:rPr lang="en" sz="2000"/>
              <a:t>Focus on flow-visible attacks (like DoS, DDoS).</a:t>
            </a:r>
            <a:endParaRPr sz="2000"/>
          </a:p>
          <a:p>
            <a:pPr indent="-346075" lvl="0" marL="457200" rtl="0" algn="l">
              <a:lnSpc>
                <a:spcPct val="200000"/>
              </a:lnSpc>
              <a:spcBef>
                <a:spcPts val="1000"/>
              </a:spcBef>
              <a:spcAft>
                <a:spcPts val="1000"/>
              </a:spcAft>
              <a:buSzPct val="100000"/>
              <a:buChar char="➔"/>
            </a:pPr>
            <a:r>
              <a:rPr lang="en" sz="2000"/>
              <a:t>Look into hybrid approach for attacks needing payload data (like SQLi, XSS, infiltration).</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Strengthening the Modeling Approach</a:t>
            </a:r>
            <a:endParaRPr/>
          </a:p>
        </p:txBody>
      </p:sp>
      <p:sp>
        <p:nvSpPr>
          <p:cNvPr id="149" name="Google Shape;149;p28"/>
          <p:cNvSpPr txBox="1"/>
          <p:nvPr>
            <p:ph idx="1" type="body"/>
          </p:nvPr>
        </p:nvSpPr>
        <p:spPr>
          <a:xfrm>
            <a:off x="138000" y="953425"/>
            <a:ext cx="8819100" cy="4039500"/>
          </a:xfrm>
          <a:prstGeom prst="rect">
            <a:avLst/>
          </a:prstGeom>
        </p:spPr>
        <p:txBody>
          <a:bodyPr anchorCtr="0" anchor="t" bIns="91425" lIns="91425" spcFirstLastPara="1" rIns="91425" wrap="square" tIns="91425">
            <a:normAutofit/>
          </a:bodyPr>
          <a:lstStyle/>
          <a:p>
            <a:pPr indent="-355600" lvl="0" marL="457200" rtl="0" algn="l">
              <a:lnSpc>
                <a:spcPct val="200000"/>
              </a:lnSpc>
              <a:spcBef>
                <a:spcPts val="0"/>
              </a:spcBef>
              <a:spcAft>
                <a:spcPts val="0"/>
              </a:spcAft>
              <a:buSzPts val="2000"/>
              <a:buChar char="➔"/>
            </a:pPr>
            <a:r>
              <a:rPr lang="en" sz="2000"/>
              <a:t>Go beyond Extra Trees → test RF, XGBoost, SVM, Logistic Regression.</a:t>
            </a:r>
            <a:endParaRPr sz="2000"/>
          </a:p>
          <a:p>
            <a:pPr indent="-355600" lvl="0" marL="457200" rtl="0" algn="l">
              <a:lnSpc>
                <a:spcPct val="200000"/>
              </a:lnSpc>
              <a:spcBef>
                <a:spcPts val="1000"/>
              </a:spcBef>
              <a:spcAft>
                <a:spcPts val="0"/>
              </a:spcAft>
              <a:buSzPts val="2000"/>
              <a:buChar char="➔"/>
            </a:pPr>
            <a:r>
              <a:rPr lang="en" sz="2000"/>
              <a:t>Apply 5-fold cross-validation to check overfitting.</a:t>
            </a:r>
            <a:endParaRPr sz="2000"/>
          </a:p>
          <a:p>
            <a:pPr indent="-355600" lvl="0" marL="457200" rtl="0" algn="l">
              <a:lnSpc>
                <a:spcPct val="200000"/>
              </a:lnSpc>
              <a:spcBef>
                <a:spcPts val="1000"/>
              </a:spcBef>
              <a:spcAft>
                <a:spcPts val="0"/>
              </a:spcAft>
              <a:buSzPts val="2000"/>
              <a:buChar char="➔"/>
            </a:pPr>
            <a:r>
              <a:rPr lang="en" sz="2000"/>
              <a:t>Add cross-time testing for temporal stability.</a:t>
            </a:r>
            <a:endParaRPr sz="2000"/>
          </a:p>
          <a:p>
            <a:pPr indent="-355600" lvl="0" marL="457200" rtl="0" algn="l">
              <a:lnSpc>
                <a:spcPct val="200000"/>
              </a:lnSpc>
              <a:spcBef>
                <a:spcPts val="1000"/>
              </a:spcBef>
              <a:spcAft>
                <a:spcPts val="0"/>
              </a:spcAft>
              <a:buSzPts val="2000"/>
              <a:buChar char="➔"/>
            </a:pPr>
            <a:r>
              <a:rPr lang="en" sz="2000"/>
              <a:t>Perform adversarial tests (small feature changes, flow splitting).</a:t>
            </a:r>
            <a:endParaRPr sz="2000"/>
          </a:p>
          <a:p>
            <a:pPr indent="-355600" lvl="0" marL="457200" rtl="0" algn="l">
              <a:lnSpc>
                <a:spcPct val="200000"/>
              </a:lnSpc>
              <a:spcBef>
                <a:spcPts val="1000"/>
              </a:spcBef>
              <a:spcAft>
                <a:spcPts val="1000"/>
              </a:spcAft>
              <a:buSzPts val="2000"/>
              <a:buChar char="➔"/>
            </a:pPr>
            <a:r>
              <a:rPr lang="en" sz="2000"/>
              <a:t>Look into hybrid detection (flow + payload/host-level).</a:t>
            </a:r>
            <a:endParaRPr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169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 and Next Steps</a:t>
            </a:r>
            <a:endParaRPr/>
          </a:p>
        </p:txBody>
      </p:sp>
      <p:sp>
        <p:nvSpPr>
          <p:cNvPr id="155" name="Google Shape;155;p29"/>
          <p:cNvSpPr txBox="1"/>
          <p:nvPr>
            <p:ph idx="1" type="body"/>
          </p:nvPr>
        </p:nvSpPr>
        <p:spPr>
          <a:xfrm>
            <a:off x="138000" y="953425"/>
            <a:ext cx="8819100" cy="4039500"/>
          </a:xfrm>
          <a:prstGeom prst="rect">
            <a:avLst/>
          </a:prstGeom>
        </p:spPr>
        <p:txBody>
          <a:bodyPr anchorCtr="0" anchor="t" bIns="91425" lIns="91425" spcFirstLastPara="1" rIns="91425" wrap="square" tIns="91425">
            <a:normAutofit/>
          </a:bodyPr>
          <a:lstStyle/>
          <a:p>
            <a:pPr indent="-355600" lvl="0" marL="457200" rtl="0" algn="l">
              <a:lnSpc>
                <a:spcPct val="200000"/>
              </a:lnSpc>
              <a:spcBef>
                <a:spcPts val="0"/>
              </a:spcBef>
              <a:spcAft>
                <a:spcPts val="0"/>
              </a:spcAft>
              <a:buSzPts val="2000"/>
              <a:buChar char="➔"/>
            </a:pPr>
            <a:r>
              <a:rPr lang="en" sz="2000"/>
              <a:t>Use consistent metrics: Accuracy, F1, AUC, DR, FAR, latency.</a:t>
            </a:r>
            <a:endParaRPr sz="2000"/>
          </a:p>
          <a:p>
            <a:pPr indent="-355600" lvl="0" marL="457200" rtl="0" algn="l">
              <a:lnSpc>
                <a:spcPct val="200000"/>
              </a:lnSpc>
              <a:spcBef>
                <a:spcPts val="1000"/>
              </a:spcBef>
              <a:spcAft>
                <a:spcPts val="0"/>
              </a:spcAft>
              <a:buSzPts val="2000"/>
              <a:buChar char="➔"/>
            </a:pPr>
            <a:r>
              <a:rPr lang="en" sz="2000"/>
              <a:t>Test binary and multi-class attack specific models.</a:t>
            </a:r>
            <a:endParaRPr sz="2000"/>
          </a:p>
          <a:p>
            <a:pPr indent="-355600" lvl="0" marL="457200" rtl="0" algn="l">
              <a:lnSpc>
                <a:spcPct val="200000"/>
              </a:lnSpc>
              <a:spcBef>
                <a:spcPts val="1000"/>
              </a:spcBef>
              <a:spcAft>
                <a:spcPts val="0"/>
              </a:spcAft>
              <a:buSzPts val="2000"/>
              <a:buChar char="➔"/>
            </a:pPr>
            <a:r>
              <a:rPr lang="en" sz="2000"/>
              <a:t>Research standard NIDS evaluation methods for fair comparison.</a:t>
            </a:r>
            <a:endParaRPr sz="2000"/>
          </a:p>
          <a:p>
            <a:pPr indent="-355600" lvl="0" marL="457200" rtl="0" algn="l">
              <a:lnSpc>
                <a:spcPct val="200000"/>
              </a:lnSpc>
              <a:spcBef>
                <a:spcPts val="1000"/>
              </a:spcBef>
              <a:spcAft>
                <a:spcPts val="0"/>
              </a:spcAft>
              <a:buSzPts val="2000"/>
              <a:buChar char="➔"/>
            </a:pPr>
            <a:r>
              <a:rPr lang="en" sz="2000"/>
              <a:t>Explore privacy-safe features (TLS handshake, payload entropy).</a:t>
            </a:r>
            <a:endParaRPr sz="2000"/>
          </a:p>
          <a:p>
            <a:pPr indent="-355600" lvl="0" marL="457200" rtl="0" algn="l">
              <a:lnSpc>
                <a:spcPct val="200000"/>
              </a:lnSpc>
              <a:spcBef>
                <a:spcPts val="1000"/>
              </a:spcBef>
              <a:spcAft>
                <a:spcPts val="1000"/>
              </a:spcAft>
              <a:buSzPts val="2000"/>
              <a:buChar char="➔"/>
            </a:pPr>
            <a:r>
              <a:rPr lang="en" sz="2000"/>
              <a:t>Compare accuracy vs latency for deployment readiness.</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311700" y="81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References</a:t>
            </a:r>
            <a:endParaRPr/>
          </a:p>
        </p:txBody>
      </p:sp>
      <p:sp>
        <p:nvSpPr>
          <p:cNvPr id="161" name="Google Shape;161;p30"/>
          <p:cNvSpPr txBox="1"/>
          <p:nvPr>
            <p:ph idx="1" type="body"/>
          </p:nvPr>
        </p:nvSpPr>
        <p:spPr>
          <a:xfrm>
            <a:off x="138000" y="741725"/>
            <a:ext cx="8819100" cy="4251300"/>
          </a:xfrm>
          <a:prstGeom prst="rect">
            <a:avLst/>
          </a:prstGeom>
        </p:spPr>
        <p:txBody>
          <a:bodyPr anchorCtr="0" anchor="t" bIns="91425" lIns="91425" spcFirstLastPara="1" rIns="91425" wrap="square" tIns="91425">
            <a:normAutofit fontScale="85000" lnSpcReduction="10000"/>
          </a:bodyPr>
          <a:lstStyle/>
          <a:p>
            <a:pPr indent="-336550" lvl="0" marL="457200" rtl="0" algn="l">
              <a:lnSpc>
                <a:spcPct val="200000"/>
              </a:lnSpc>
              <a:spcBef>
                <a:spcPts val="0"/>
              </a:spcBef>
              <a:spcAft>
                <a:spcPts val="0"/>
              </a:spcAft>
              <a:buSzPct val="100000"/>
              <a:buChar char="●"/>
            </a:pPr>
            <a:r>
              <a:rPr b="1" lang="en" sz="2000"/>
              <a:t>Case Study Paper: </a:t>
            </a:r>
            <a:endParaRPr b="1" sz="2000"/>
          </a:p>
          <a:p>
            <a:pPr indent="0" lvl="0" marL="457200" rtl="0" algn="l">
              <a:lnSpc>
                <a:spcPct val="200000"/>
              </a:lnSpc>
              <a:spcBef>
                <a:spcPts val="1000"/>
              </a:spcBef>
              <a:spcAft>
                <a:spcPts val="0"/>
              </a:spcAft>
              <a:buNone/>
            </a:pPr>
            <a:r>
              <a:rPr lang="en" sz="2000"/>
              <a:t>Sarhan, M., Layeghy, S. &amp; Portmann, M. Towards a Standard Feature Set for Network Intrusion Detection System Datasets. Mobile Netw Appl 27, 357–370 (2022). </a:t>
            </a:r>
            <a:r>
              <a:rPr lang="en" sz="2000" u="sng">
                <a:solidFill>
                  <a:schemeClr val="hlink"/>
                </a:solidFill>
                <a:hlinkClick r:id="rId3"/>
              </a:rPr>
              <a:t>https://doi.org/10.1007/s11036-021-01843-0</a:t>
            </a:r>
            <a:endParaRPr sz="2000"/>
          </a:p>
          <a:p>
            <a:pPr indent="-336550" lvl="0" marL="457200" rtl="0" algn="l">
              <a:lnSpc>
                <a:spcPct val="200000"/>
              </a:lnSpc>
              <a:spcBef>
                <a:spcPts val="1000"/>
              </a:spcBef>
              <a:spcAft>
                <a:spcPts val="0"/>
              </a:spcAft>
              <a:buSzPct val="100000"/>
              <a:buChar char="●"/>
            </a:pPr>
            <a:r>
              <a:rPr b="1" lang="en" sz="2000"/>
              <a:t>Dataset:</a:t>
            </a:r>
            <a:r>
              <a:rPr lang="en" sz="2000"/>
              <a:t> </a:t>
            </a:r>
            <a:r>
              <a:rPr lang="en" sz="2000" u="sng">
                <a:solidFill>
                  <a:schemeClr val="hlink"/>
                </a:solidFill>
                <a:hlinkClick r:id="rId4"/>
              </a:rPr>
              <a:t>https://fkie-cad.github.io/COMIDDS/content/datasets/flnet2023/</a:t>
            </a:r>
            <a:endParaRPr sz="2000"/>
          </a:p>
          <a:p>
            <a:pPr indent="-336550" lvl="0" marL="457200" rtl="0" algn="l">
              <a:lnSpc>
                <a:spcPct val="200000"/>
              </a:lnSpc>
              <a:spcBef>
                <a:spcPts val="0"/>
              </a:spcBef>
              <a:spcAft>
                <a:spcPts val="0"/>
              </a:spcAft>
              <a:buSzPct val="100000"/>
              <a:buChar char="●"/>
            </a:pPr>
            <a:r>
              <a:rPr b="1" lang="en" sz="2000"/>
              <a:t>Colab Notebook: </a:t>
            </a:r>
            <a:r>
              <a:rPr lang="en" sz="2000" u="sng">
                <a:solidFill>
                  <a:schemeClr val="hlink"/>
                </a:solidFill>
                <a:hlinkClick r:id="rId5"/>
              </a:rPr>
              <a:t>https://colab.research.google.com/drive/147fRUwBCbiSsKXKJA5A8Bp4HE6uIkvEA?usp=sharing</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Any Questions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